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handoutMasterIdLst>
    <p:handoutMasterId r:id="rId58"/>
  </p:handoutMasterIdLst>
  <p:sldIdLst>
    <p:sldId id="256" r:id="rId2"/>
    <p:sldId id="257" r:id="rId3"/>
    <p:sldId id="258" r:id="rId4"/>
    <p:sldId id="260" r:id="rId5"/>
    <p:sldId id="259" r:id="rId6"/>
    <p:sldId id="262" r:id="rId7"/>
    <p:sldId id="268" r:id="rId8"/>
    <p:sldId id="263" r:id="rId9"/>
    <p:sldId id="264" r:id="rId10"/>
    <p:sldId id="265" r:id="rId11"/>
    <p:sldId id="266" r:id="rId12"/>
    <p:sldId id="267" r:id="rId13"/>
    <p:sldId id="431" r:id="rId14"/>
    <p:sldId id="269" r:id="rId15"/>
    <p:sldId id="432" r:id="rId16"/>
    <p:sldId id="433" r:id="rId17"/>
    <p:sldId id="270" r:id="rId18"/>
    <p:sldId id="272" r:id="rId19"/>
    <p:sldId id="275" r:id="rId20"/>
    <p:sldId id="276" r:id="rId21"/>
    <p:sldId id="434" r:id="rId22"/>
    <p:sldId id="274" r:id="rId23"/>
    <p:sldId id="273" r:id="rId24"/>
    <p:sldId id="271" r:id="rId25"/>
    <p:sldId id="435" r:id="rId26"/>
    <p:sldId id="277" r:id="rId27"/>
    <p:sldId id="278" r:id="rId28"/>
    <p:sldId id="408" r:id="rId29"/>
    <p:sldId id="409" r:id="rId30"/>
    <p:sldId id="412" r:id="rId31"/>
    <p:sldId id="416" r:id="rId32"/>
    <p:sldId id="415" r:id="rId33"/>
    <p:sldId id="414" r:id="rId34"/>
    <p:sldId id="418" r:id="rId35"/>
    <p:sldId id="419" r:id="rId36"/>
    <p:sldId id="413" r:id="rId37"/>
    <p:sldId id="421" r:id="rId38"/>
    <p:sldId id="422" r:id="rId39"/>
    <p:sldId id="420" r:id="rId40"/>
    <p:sldId id="423" r:id="rId41"/>
    <p:sldId id="424" r:id="rId42"/>
    <p:sldId id="425" r:id="rId43"/>
    <p:sldId id="426" r:id="rId44"/>
    <p:sldId id="427" r:id="rId45"/>
    <p:sldId id="428" r:id="rId46"/>
    <p:sldId id="429" r:id="rId47"/>
    <p:sldId id="437" r:id="rId48"/>
    <p:sldId id="438" r:id="rId49"/>
    <p:sldId id="439" r:id="rId50"/>
    <p:sldId id="440" r:id="rId51"/>
    <p:sldId id="441" r:id="rId52"/>
    <p:sldId id="442" r:id="rId53"/>
    <p:sldId id="430" r:id="rId54"/>
    <p:sldId id="436" r:id="rId55"/>
    <p:sldId id="443" r:id="rId56"/>
    <p:sldId id="444" r:id="rId5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80FAB881-1CA1-49A5-9D0C-90442A5775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97AC295-BD41-4A01-8A2D-F0AEEB2DA2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0BB510-58DF-4CB1-AF3B-3551DEE0704C}" type="datetimeFigureOut">
              <a:rPr lang="fr-FR" smtClean="0"/>
              <a:t>21/10/2024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F32535-3B12-41F5-B382-89B4F8AAAB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1B7368C-4DCA-4FD1-88D0-7431FF1722C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9BAF4A-15FC-4260-BAE1-A9FABE1577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76857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 du docu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27" descr="Une image contenant texte, signe, sombre&#10;&#10;Description générée automatiquement">
            <a:extLst>
              <a:ext uri="{FF2B5EF4-FFF2-40B4-BE49-F238E27FC236}">
                <a16:creationId xmlns:a16="http://schemas.microsoft.com/office/drawing/2014/main" id="{A5225421-7884-418E-8653-12F21BE174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01" r="21286"/>
          <a:stretch/>
        </p:blipFill>
        <p:spPr>
          <a:xfrm>
            <a:off x="8919460" y="0"/>
            <a:ext cx="3272540" cy="3429000"/>
          </a:xfrm>
          <a:prstGeom prst="rect">
            <a:avLst/>
          </a:prstGeom>
        </p:spPr>
      </p:pic>
      <p:pic>
        <p:nvPicPr>
          <p:cNvPr id="30" name="Image 29" descr="Une image contenant flèche&#10;&#10;Description générée automatiquement">
            <a:extLst>
              <a:ext uri="{FF2B5EF4-FFF2-40B4-BE49-F238E27FC236}">
                <a16:creationId xmlns:a16="http://schemas.microsoft.com/office/drawing/2014/main" id="{DDFF484C-BF37-4EBB-8425-36F09350EE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9"/>
          <a:stretch/>
        </p:blipFill>
        <p:spPr>
          <a:xfrm>
            <a:off x="-1" y="1989832"/>
            <a:ext cx="2629191" cy="3429000"/>
          </a:xfrm>
          <a:prstGeom prst="rect">
            <a:avLst/>
          </a:prstGeom>
        </p:spPr>
      </p:pic>
      <p:sp>
        <p:nvSpPr>
          <p:cNvPr id="33" name="Titre 1">
            <a:extLst>
              <a:ext uri="{FF2B5EF4-FFF2-40B4-BE49-F238E27FC236}">
                <a16:creationId xmlns:a16="http://schemas.microsoft.com/office/drawing/2014/main" id="{51725362-A224-4C0A-A2D1-4C94429520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11728" y="2484437"/>
            <a:ext cx="5965571" cy="1508125"/>
          </a:xfrm>
        </p:spPr>
        <p:txBody>
          <a:bodyPr anchor="ctr">
            <a:normAutofit/>
          </a:bodyPr>
          <a:lstStyle>
            <a:lvl1pPr algn="ctr">
              <a:defRPr sz="5400" b="1" cap="all" baseline="0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Edge </a:t>
            </a:r>
            <a:r>
              <a:rPr lang="fr-FR" dirty="0" err="1"/>
              <a:t>computing</a:t>
            </a:r>
            <a:endParaRPr lang="fr-FR" dirty="0"/>
          </a:p>
        </p:txBody>
      </p:sp>
      <p:sp>
        <p:nvSpPr>
          <p:cNvPr id="34" name="Sous-titre 2">
            <a:extLst>
              <a:ext uri="{FF2B5EF4-FFF2-40B4-BE49-F238E27FC236}">
                <a16:creationId xmlns:a16="http://schemas.microsoft.com/office/drawing/2014/main" id="{0252016D-B139-4B9E-9726-4835B89291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11728" y="4027916"/>
            <a:ext cx="5965572" cy="1331484"/>
          </a:xfrm>
        </p:spPr>
        <p:txBody>
          <a:bodyPr>
            <a:noAutofit/>
          </a:bodyPr>
          <a:lstStyle>
            <a:lvl1pPr marL="0" indent="0" algn="ctr">
              <a:buNone/>
              <a:defRPr sz="3200" cap="none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3EA IATI – S9</a:t>
            </a:r>
          </a:p>
          <a:p>
            <a:r>
              <a:rPr lang="fr-FR" dirty="0"/>
              <a:t>2023-2024</a:t>
            </a:r>
          </a:p>
          <a:p>
            <a:endParaRPr lang="fr-FR" dirty="0"/>
          </a:p>
          <a:p>
            <a:r>
              <a:rPr lang="fr-FR" dirty="0"/>
              <a:t>blaise.mulliez@toulouse-inp.fr</a:t>
            </a:r>
          </a:p>
          <a:p>
            <a:endParaRPr lang="fr-FR" dirty="0"/>
          </a:p>
        </p:txBody>
      </p:sp>
      <p:sp>
        <p:nvSpPr>
          <p:cNvPr id="36" name="Espace réservé pour une image  35">
            <a:extLst>
              <a:ext uri="{FF2B5EF4-FFF2-40B4-BE49-F238E27FC236}">
                <a16:creationId xmlns:a16="http://schemas.microsoft.com/office/drawing/2014/main" id="{6EFD0ABA-CDEF-4699-A675-EDB1504208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2699" y="3848100"/>
            <a:ext cx="3490950" cy="3133851"/>
          </a:xfrm>
          <a:custGeom>
            <a:avLst/>
            <a:gdLst>
              <a:gd name="connsiteX0" fmla="*/ 0 w 2997200"/>
              <a:gd name="connsiteY0" fmla="*/ 3022600 h 3022600"/>
              <a:gd name="connsiteX1" fmla="*/ 0 w 2997200"/>
              <a:gd name="connsiteY1" fmla="*/ 0 h 3022600"/>
              <a:gd name="connsiteX2" fmla="*/ 2997200 w 2997200"/>
              <a:gd name="connsiteY2" fmla="*/ 3022600 h 3022600"/>
              <a:gd name="connsiteX3" fmla="*/ 0 w 2997200"/>
              <a:gd name="connsiteY3" fmla="*/ 3022600 h 3022600"/>
              <a:gd name="connsiteX0" fmla="*/ 0 w 3022600"/>
              <a:gd name="connsiteY0" fmla="*/ 3022600 h 3022600"/>
              <a:gd name="connsiteX1" fmla="*/ 0 w 3022600"/>
              <a:gd name="connsiteY1" fmla="*/ 0 h 3022600"/>
              <a:gd name="connsiteX2" fmla="*/ 3022600 w 3022600"/>
              <a:gd name="connsiteY2" fmla="*/ 2133600 h 3022600"/>
              <a:gd name="connsiteX3" fmla="*/ 0 w 3022600"/>
              <a:gd name="connsiteY3" fmla="*/ 3022600 h 3022600"/>
              <a:gd name="connsiteX0" fmla="*/ 0 w 3410335"/>
              <a:gd name="connsiteY0" fmla="*/ 3022600 h 3266390"/>
              <a:gd name="connsiteX1" fmla="*/ 0 w 3410335"/>
              <a:gd name="connsiteY1" fmla="*/ 0 h 3266390"/>
              <a:gd name="connsiteX2" fmla="*/ 3022600 w 3410335"/>
              <a:gd name="connsiteY2" fmla="*/ 2133600 h 3266390"/>
              <a:gd name="connsiteX3" fmla="*/ 0 w 3410335"/>
              <a:gd name="connsiteY3" fmla="*/ 3022600 h 3266390"/>
              <a:gd name="connsiteX0" fmla="*/ 0 w 3419422"/>
              <a:gd name="connsiteY0" fmla="*/ 3022600 h 3022600"/>
              <a:gd name="connsiteX1" fmla="*/ 0 w 3419422"/>
              <a:gd name="connsiteY1" fmla="*/ 0 h 3022600"/>
              <a:gd name="connsiteX2" fmla="*/ 3022600 w 3419422"/>
              <a:gd name="connsiteY2" fmla="*/ 2133600 h 3022600"/>
              <a:gd name="connsiteX3" fmla="*/ 0 w 3419422"/>
              <a:gd name="connsiteY3" fmla="*/ 3022600 h 3022600"/>
              <a:gd name="connsiteX0" fmla="*/ 0 w 3479379"/>
              <a:gd name="connsiteY0" fmla="*/ 3022600 h 3084631"/>
              <a:gd name="connsiteX1" fmla="*/ 0 w 3479379"/>
              <a:gd name="connsiteY1" fmla="*/ 0 h 3084631"/>
              <a:gd name="connsiteX2" fmla="*/ 3022600 w 3479379"/>
              <a:gd name="connsiteY2" fmla="*/ 2133600 h 3084631"/>
              <a:gd name="connsiteX3" fmla="*/ 0 w 3479379"/>
              <a:gd name="connsiteY3" fmla="*/ 3022600 h 3084631"/>
              <a:gd name="connsiteX0" fmla="*/ 0 w 3490950"/>
              <a:gd name="connsiteY0" fmla="*/ 3124200 h 3133851"/>
              <a:gd name="connsiteX1" fmla="*/ 12700 w 3490950"/>
              <a:gd name="connsiteY1" fmla="*/ 0 h 3133851"/>
              <a:gd name="connsiteX2" fmla="*/ 3035300 w 3490950"/>
              <a:gd name="connsiteY2" fmla="*/ 2133600 h 3133851"/>
              <a:gd name="connsiteX3" fmla="*/ 0 w 3490950"/>
              <a:gd name="connsiteY3" fmla="*/ 3124200 h 3133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0950" h="3133851">
                <a:moveTo>
                  <a:pt x="0" y="3124200"/>
                </a:moveTo>
                <a:cubicBezTo>
                  <a:pt x="4233" y="2082800"/>
                  <a:pt x="8467" y="1041400"/>
                  <a:pt x="12700" y="0"/>
                </a:cubicBezTo>
                <a:lnTo>
                  <a:pt x="3035300" y="2133600"/>
                </a:lnTo>
                <a:cubicBezTo>
                  <a:pt x="4783667" y="3776133"/>
                  <a:pt x="1007533" y="2827867"/>
                  <a:pt x="0" y="3124200"/>
                </a:cubicBez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3" y="116680"/>
            <a:ext cx="57150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02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AAC59D-FB8F-42A8-B02C-CD3EF5B98BF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AAB61F-8A9A-47C9-B3CA-465A46AE4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D895F-FB36-46FE-A584-EEFA096CA52C}" type="datetimeFigureOut">
              <a:rPr lang="fr-FR" smtClean="0"/>
              <a:t>21/10/2024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1CF927-22FC-403E-BD1F-CE8B02190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67258F-57DA-48FA-B024-511F0FF8D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410E-499E-43DD-90BA-0A358BD52BA0}" type="slidenum">
              <a:rPr lang="fr-FR" smtClean="0"/>
              <a:t>‹N°›</a:t>
            </a:fld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152EB7F7-D04A-4280-9D26-261B0CA0F6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319"/>
          <a:stretch/>
        </p:blipFill>
        <p:spPr>
          <a:xfrm>
            <a:off x="1280876" y="5451345"/>
            <a:ext cx="2621285" cy="1406655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08E38870-0D38-4616-A6D4-F51719F171D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100" y="5607996"/>
            <a:ext cx="676994" cy="856304"/>
          </a:xfrm>
          <a:prstGeom prst="rect">
            <a:avLst/>
          </a:prstGeom>
        </p:spPr>
      </p:pic>
      <p:pic>
        <p:nvPicPr>
          <p:cNvPr id="16" name="Image 15" descr="Une image contenant flèche&#10;&#10;Description générée automatiquement">
            <a:extLst>
              <a:ext uri="{FF2B5EF4-FFF2-40B4-BE49-F238E27FC236}">
                <a16:creationId xmlns:a16="http://schemas.microsoft.com/office/drawing/2014/main" id="{62840087-B7EF-4935-9D1A-63B95B9283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36" t="57681"/>
          <a:stretch/>
        </p:blipFill>
        <p:spPr>
          <a:xfrm>
            <a:off x="-1" y="0"/>
            <a:ext cx="4583895" cy="4952870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9D3784C9-18CE-404C-8CE2-C5E067DAF2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5139"/>
          <a:stretch/>
        </p:blipFill>
        <p:spPr>
          <a:xfrm>
            <a:off x="0" y="0"/>
            <a:ext cx="1039117" cy="14859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7D66F42-5D65-4FBE-9CBC-2FE36C708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2428" y="2484437"/>
            <a:ext cx="5965571" cy="1508125"/>
          </a:xfrm>
        </p:spPr>
        <p:txBody>
          <a:bodyPr anchor="b"/>
          <a:lstStyle>
            <a:lvl1pPr algn="l">
              <a:defRPr sz="6000" b="1" cap="all" baseline="0">
                <a:solidFill>
                  <a:schemeClr val="accent3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DA6FCFF-E647-42B9-B9E7-B69A4B7BC6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2428" y="4027916"/>
            <a:ext cx="5965572" cy="1331484"/>
          </a:xfrm>
        </p:spPr>
        <p:txBody>
          <a:bodyPr/>
          <a:lstStyle>
            <a:lvl1pPr marL="0" indent="0" algn="just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A7B6E96B-A89F-4671-8484-9B5566815A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77428" y="1560727"/>
            <a:ext cx="2006600" cy="3670300"/>
          </a:xfrm>
        </p:spPr>
        <p:txBody>
          <a:bodyPr>
            <a:noAutofit/>
          </a:bodyPr>
          <a:lstStyle>
            <a:lvl3pPr marL="0" indent="0">
              <a:buNone/>
              <a:defRPr sz="30000" b="1">
                <a:solidFill>
                  <a:schemeClr val="bg1"/>
                </a:solidFill>
                <a:latin typeface="+mn-lt"/>
              </a:defRPr>
            </a:lvl3pPr>
          </a:lstStyle>
          <a:p>
            <a:pPr lvl="2"/>
            <a:r>
              <a:rPr lang="fr-FR" dirty="0"/>
              <a:t>1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FC82FCB9-F004-4421-9876-CE5C8BC933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59237" b="45517"/>
          <a:stretch/>
        </p:blipFill>
        <p:spPr>
          <a:xfrm>
            <a:off x="11897833" y="6343289"/>
            <a:ext cx="294167" cy="51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428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442AFA-40B2-4179-9160-93D3DB4F9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037092-B100-4283-8681-0EB95BD1E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65E2C5-AB5A-4158-9CE4-7F053245B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D895F-FB36-46FE-A584-EEFA096CA52C}" type="datetimeFigureOut">
              <a:rPr lang="fr-FR" smtClean="0"/>
              <a:t>21/10/2024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0BE48E-F027-45D7-888B-9985E3EAE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010FE5-9235-44D8-8B01-F97A02677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410E-499E-43DD-90BA-0A358BD52BA0}" type="slidenum">
              <a:rPr lang="fr-FR" smtClean="0"/>
              <a:t>‹N°›</a:t>
            </a:fld>
            <a:endParaRPr lang="fr-FR"/>
          </a:p>
        </p:txBody>
      </p:sp>
      <p:pic>
        <p:nvPicPr>
          <p:cNvPr id="8" name="Image 7" descr="Une image contenant flèche&#10;&#10;Description générée automatiquement">
            <a:extLst>
              <a:ext uri="{FF2B5EF4-FFF2-40B4-BE49-F238E27FC236}">
                <a16:creationId xmlns:a16="http://schemas.microsoft.com/office/drawing/2014/main" id="{E796F9CA-BA22-4150-8888-759E0960C4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20" t="42362"/>
          <a:stretch/>
        </p:blipFill>
        <p:spPr>
          <a:xfrm>
            <a:off x="-17552" y="5423"/>
            <a:ext cx="1110402" cy="132556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B559A15-3E19-4693-BB4C-372D1EE1E9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59237" b="45517"/>
          <a:stretch/>
        </p:blipFill>
        <p:spPr>
          <a:xfrm>
            <a:off x="11897833" y="6343289"/>
            <a:ext cx="294167" cy="51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632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pour une image  12">
            <a:extLst>
              <a:ext uri="{FF2B5EF4-FFF2-40B4-BE49-F238E27FC236}">
                <a16:creationId xmlns:a16="http://schemas.microsoft.com/office/drawing/2014/main" id="{BB8968F2-3E16-4B0D-BB83-0311E4FAB9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82800" y="2006600"/>
            <a:ext cx="4089400" cy="2946400"/>
          </a:xfrm>
        </p:spPr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4BE9487-E469-4590-8F89-1184052B3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4C8C2C-71A2-4C93-84D3-EF79C2E6E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D895F-FB36-46FE-A584-EEFA096CA52C}" type="datetimeFigureOut">
              <a:rPr lang="fr-FR" smtClean="0"/>
              <a:t>21/10/2024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79A7A94-213E-4EA2-8F24-B89B4B656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E2CF1EF-C1E5-4BA5-8DDE-5A0723744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410E-499E-43DD-90BA-0A358BD52BA0}" type="slidenum">
              <a:rPr lang="fr-FR" smtClean="0"/>
              <a:t>‹N°›</a:t>
            </a:fld>
            <a:endParaRPr lang="fr-FR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AC21F430-0562-4BA2-942D-4291518458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16700" y="2006600"/>
            <a:ext cx="4851400" cy="29464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7" name="Image 16" descr="Une image contenant flèche&#10;&#10;Description générée automatiquement">
            <a:extLst>
              <a:ext uri="{FF2B5EF4-FFF2-40B4-BE49-F238E27FC236}">
                <a16:creationId xmlns:a16="http://schemas.microsoft.com/office/drawing/2014/main" id="{D034C31B-16C6-45C2-ADEA-D374B37514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20" t="42362"/>
          <a:stretch/>
        </p:blipFill>
        <p:spPr>
          <a:xfrm>
            <a:off x="-17552" y="5423"/>
            <a:ext cx="1110402" cy="1325563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A9D4EBB-C460-42D5-89A1-69FA204DC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509"/>
          <a:stretch/>
        </p:blipFill>
        <p:spPr>
          <a:xfrm>
            <a:off x="1047410" y="2833795"/>
            <a:ext cx="4311766" cy="403540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6FA2E20D-613F-4F9D-81DE-8CBDA055F9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59237" b="45517"/>
          <a:stretch/>
        </p:blipFill>
        <p:spPr>
          <a:xfrm>
            <a:off x="11897833" y="6343289"/>
            <a:ext cx="294167" cy="51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076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e de contenu bandeau horizontal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15413" y="1412776"/>
            <a:ext cx="10465163" cy="452596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3"/>
              </a:buClr>
              <a:buFont typeface="Arial" pitchFamily="34" charset="0"/>
              <a:buChar char="►"/>
              <a:defRPr sz="2800"/>
            </a:lvl1pPr>
            <a:lvl2pPr marL="742950" indent="-285750">
              <a:buClr>
                <a:schemeClr val="accent1"/>
              </a:buClr>
              <a:buFont typeface="Arial" pitchFamily="34" charset="0"/>
              <a:buChar char="►"/>
              <a:defRPr sz="2400"/>
            </a:lvl2pPr>
            <a:lvl3pPr marL="1143000" indent="-228600">
              <a:buClr>
                <a:schemeClr val="bg2">
                  <a:lumMod val="75000"/>
                </a:schemeClr>
              </a:buClr>
              <a:buFont typeface="Arial" pitchFamily="34" charset="0"/>
              <a:buChar char="►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10704512" y="5949281"/>
            <a:ext cx="1391477" cy="365125"/>
          </a:xfrm>
          <a:prstGeom prst="rect">
            <a:avLst/>
          </a:prstGeom>
        </p:spPr>
        <p:txBody>
          <a:bodyPr/>
          <a:lstStyle/>
          <a:p>
            <a:fld id="{A501BF8C-5459-4B26-9620-2BE6029929C8}" type="datetime1">
              <a:rPr lang="fr-FR" smtClean="0"/>
              <a:t>21/10/2024</a:t>
            </a:fld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0800523" y="6381329"/>
            <a:ext cx="1308629" cy="365125"/>
          </a:xfrm>
          <a:prstGeom prst="rect">
            <a:avLst/>
          </a:prstGeom>
        </p:spPr>
        <p:txBody>
          <a:bodyPr/>
          <a:lstStyle/>
          <a:p>
            <a:fld id="{57276DA7-6462-4495-965D-E91F9F2D8518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Titre 10"/>
          <p:cNvSpPr>
            <a:spLocks noGrp="1"/>
          </p:cNvSpPr>
          <p:nvPr>
            <p:ph type="title"/>
          </p:nvPr>
        </p:nvSpPr>
        <p:spPr>
          <a:xfrm>
            <a:off x="719403" y="116632"/>
            <a:ext cx="8640960" cy="72008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fr-FR"/>
              <a:t>Cliquez pour modifier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1326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58CDE8C-F994-4A66-9DD7-FBAE2FA1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363F2B-59FD-4116-B0E7-6961B8DFD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948209-2DF0-464A-99BE-05BEC567CD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D5644-6271-4F02-BFBD-15BED97C0020}" type="datetimeFigureOut">
              <a:rPr lang="fr-FR" smtClean="0"/>
              <a:t>21/10/2024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13A081-B9B5-4146-A95A-6BB2D591D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95C583-0E0D-46D3-A137-C2FA01056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72E63-59C9-4FDA-9109-38F48FF558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1060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iot-analytics.com/" TargetMode="Externa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svgsilh.com/fr/image/98724.html" TargetMode="Externa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B49F09-A100-4501-B618-9A2095B86B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Edge </a:t>
            </a:r>
            <a:r>
              <a:rPr lang="fr-FR" dirty="0" err="1"/>
              <a:t>computing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826E4C8-11A8-4933-82E1-7C403F878F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3EA IATI – S9</a:t>
            </a:r>
          </a:p>
          <a:p>
            <a:endParaRPr lang="fr-FR" dirty="0"/>
          </a:p>
          <a:p>
            <a:r>
              <a:rPr lang="fr-FR" dirty="0"/>
              <a:t>blaise.mulliez@toulouse-inp.fr</a:t>
            </a:r>
          </a:p>
        </p:txBody>
      </p:sp>
    </p:spTree>
    <p:extLst>
      <p:ext uri="{BB962C8B-B14F-4D97-AF65-F5344CB8AC3E}">
        <p14:creationId xmlns:p14="http://schemas.microsoft.com/office/powerpoint/2010/main" val="1379235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C54DC0-BC5A-45EA-931F-CD0E3578D0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CB44C2F-457D-437C-93CB-EEF9062972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EC01022-0F5E-445E-B71B-9CDF59EFE9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9214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233F83-4033-4751-A58B-DD4A1E09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Avant-propos</a:t>
            </a:r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4034BA54-6C51-D37D-99F9-92D416C65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spcBef>
                <a:spcPts val="0"/>
              </a:spcBef>
            </a:pPr>
            <a:endParaRPr lang="en-GB" sz="1800" b="1" dirty="0"/>
          </a:p>
          <a:p>
            <a:pPr>
              <a:spcBef>
                <a:spcPts val="0"/>
              </a:spcBef>
            </a:pPr>
            <a:r>
              <a:rPr lang="en-GB" sz="1800" b="1" dirty="0"/>
              <a:t>Ce qui </a:t>
            </a:r>
            <a:r>
              <a:rPr lang="en-GB" sz="1800" b="1" dirty="0" err="1"/>
              <a:t>est</a:t>
            </a:r>
            <a:r>
              <a:rPr lang="en-GB" sz="1800" b="1" dirty="0"/>
              <a:t> </a:t>
            </a:r>
            <a:r>
              <a:rPr lang="en-GB" sz="1800" b="1" dirty="0" err="1"/>
              <a:t>attendu</a:t>
            </a:r>
            <a:r>
              <a:rPr lang="en-GB" sz="1800" b="1" dirty="0"/>
              <a:t> :</a:t>
            </a:r>
          </a:p>
          <a:p>
            <a:pPr lvl="1">
              <a:spcBef>
                <a:spcPts val="0"/>
              </a:spcBef>
            </a:pPr>
            <a:r>
              <a:rPr lang="en-GB" sz="1600" dirty="0" err="1"/>
              <a:t>Soyez</a:t>
            </a:r>
            <a:r>
              <a:rPr lang="en-GB" sz="1600" dirty="0"/>
              <a:t> </a:t>
            </a:r>
            <a:r>
              <a:rPr lang="en-GB" sz="1600" dirty="0" err="1"/>
              <a:t>curieux</a:t>
            </a:r>
            <a:r>
              <a:rPr lang="en-GB" sz="1600" dirty="0"/>
              <a:t>, </a:t>
            </a:r>
            <a:r>
              <a:rPr lang="en-GB" sz="1600" dirty="0" err="1"/>
              <a:t>posez</a:t>
            </a:r>
            <a:r>
              <a:rPr lang="en-GB" sz="1600" dirty="0"/>
              <a:t> des questions</a:t>
            </a:r>
          </a:p>
          <a:p>
            <a:pPr lvl="1">
              <a:spcBef>
                <a:spcPts val="0"/>
              </a:spcBef>
            </a:pPr>
            <a:r>
              <a:rPr lang="en-GB" sz="1600" dirty="0" err="1"/>
              <a:t>Faites</a:t>
            </a:r>
            <a:r>
              <a:rPr lang="en-GB" sz="1600" dirty="0"/>
              <a:t> des retours</a:t>
            </a:r>
          </a:p>
          <a:p>
            <a:pPr lvl="1">
              <a:spcBef>
                <a:spcPts val="0"/>
              </a:spcBef>
            </a:pPr>
            <a:endParaRPr lang="en-GB" sz="900" dirty="0"/>
          </a:p>
          <a:p>
            <a:pPr marL="457200" lvl="1" indent="0">
              <a:spcBef>
                <a:spcPts val="0"/>
              </a:spcBef>
              <a:buNone/>
            </a:pPr>
            <a:endParaRPr lang="en-GB" sz="900" dirty="0"/>
          </a:p>
          <a:p>
            <a:pPr marL="457200" lvl="1" indent="0">
              <a:spcBef>
                <a:spcPts val="0"/>
              </a:spcBef>
              <a:buNone/>
            </a:pPr>
            <a:endParaRPr lang="en-GB" sz="900" dirty="0"/>
          </a:p>
          <a:p>
            <a:pPr>
              <a:spcBef>
                <a:spcPts val="0"/>
              </a:spcBef>
            </a:pPr>
            <a:r>
              <a:rPr lang="en-GB" sz="1800" b="1" dirty="0" err="1"/>
              <a:t>Prérequis</a:t>
            </a:r>
            <a:endParaRPr lang="en-GB" sz="1800" b="1" dirty="0"/>
          </a:p>
          <a:p>
            <a:pPr lvl="1">
              <a:spcBef>
                <a:spcPts val="0"/>
              </a:spcBef>
            </a:pPr>
            <a:r>
              <a:rPr lang="fr-FR" sz="1600" dirty="0"/>
              <a:t>Connaissance de base en systèmes embarqués </a:t>
            </a:r>
          </a:p>
          <a:p>
            <a:pPr lvl="1">
              <a:spcBef>
                <a:spcPts val="0"/>
              </a:spcBef>
            </a:pPr>
            <a:r>
              <a:rPr lang="fr-FR" sz="1600" dirty="0"/>
              <a:t>Architecture des systèmes numériques</a:t>
            </a:r>
          </a:p>
          <a:p>
            <a:pPr lvl="1">
              <a:spcBef>
                <a:spcPts val="0"/>
              </a:spcBef>
            </a:pPr>
            <a:r>
              <a:rPr lang="fr-FR" sz="1600" dirty="0"/>
              <a:t>Algorithmes IA</a:t>
            </a:r>
          </a:p>
          <a:p>
            <a:pPr lvl="1">
              <a:spcBef>
                <a:spcPts val="0"/>
              </a:spcBef>
            </a:pPr>
            <a:r>
              <a:rPr lang="fr-FR" sz="1600" dirty="0"/>
              <a:t>Deep Learning / Python / </a:t>
            </a:r>
            <a:r>
              <a:rPr lang="fr-FR" sz="1600" dirty="0" err="1"/>
              <a:t>Tensorflow</a:t>
            </a:r>
            <a:r>
              <a:rPr lang="fr-FR" sz="1600" dirty="0"/>
              <a:t> (base)</a:t>
            </a:r>
          </a:p>
          <a:p>
            <a:pPr lvl="1">
              <a:spcBef>
                <a:spcPts val="0"/>
              </a:spcBef>
            </a:pPr>
            <a:endParaRPr lang="fr-FR" sz="900" dirty="0"/>
          </a:p>
          <a:p>
            <a:pPr>
              <a:spcBef>
                <a:spcPts val="0"/>
              </a:spcBef>
            </a:pPr>
            <a:r>
              <a:rPr lang="fr-FR" sz="1800" b="1" dirty="0"/>
              <a:t>Objectifs:</a:t>
            </a:r>
          </a:p>
          <a:p>
            <a:pPr lvl="1">
              <a:spcBef>
                <a:spcPts val="0"/>
              </a:spcBef>
            </a:pPr>
            <a:r>
              <a:rPr lang="fr-FR" sz="1600" dirty="0"/>
              <a:t>Connaître la définition d’Edge </a:t>
            </a:r>
            <a:r>
              <a:rPr lang="fr-FR" sz="1600" dirty="0" err="1"/>
              <a:t>Computing</a:t>
            </a:r>
            <a:endParaRPr lang="fr-FR" sz="1600" dirty="0"/>
          </a:p>
          <a:p>
            <a:pPr lvl="1">
              <a:spcBef>
                <a:spcPts val="0"/>
              </a:spcBef>
            </a:pPr>
            <a:r>
              <a:rPr lang="fr-FR" sz="1600" dirty="0"/>
              <a:t>Comprendre l’intérêt du développement de solution d’Edge </a:t>
            </a:r>
            <a:r>
              <a:rPr lang="fr-FR" sz="1600" dirty="0" err="1"/>
              <a:t>Computing</a:t>
            </a:r>
            <a:endParaRPr lang="fr-FR" sz="1600" dirty="0"/>
          </a:p>
          <a:p>
            <a:pPr lvl="1">
              <a:spcBef>
                <a:spcPts val="0"/>
              </a:spcBef>
            </a:pPr>
            <a:r>
              <a:rPr lang="fr-FR" sz="1600" dirty="0"/>
              <a:t>Connaître les techniques d’intégrations de solutions d’IA sur cible contrainte</a:t>
            </a:r>
          </a:p>
          <a:p>
            <a:pPr lvl="1">
              <a:spcBef>
                <a:spcPts val="0"/>
              </a:spcBef>
            </a:pPr>
            <a:r>
              <a:rPr lang="fr-FR" sz="1600" dirty="0"/>
              <a:t>Mettre en œuvre ces techniques en projet.</a:t>
            </a:r>
          </a:p>
        </p:txBody>
      </p:sp>
      <p:sp>
        <p:nvSpPr>
          <p:cNvPr id="5" name="Espace réservé du contenu 1">
            <a:extLst>
              <a:ext uri="{FF2B5EF4-FFF2-40B4-BE49-F238E27FC236}">
                <a16:creationId xmlns:a16="http://schemas.microsoft.com/office/drawing/2014/main" id="{4F33DBF5-0975-A37B-012C-005BD8D6EB62}"/>
              </a:ext>
            </a:extLst>
          </p:cNvPr>
          <p:cNvSpPr txBox="1">
            <a:spLocks/>
          </p:cNvSpPr>
          <p:nvPr/>
        </p:nvSpPr>
        <p:spPr>
          <a:xfrm>
            <a:off x="5358795" y="1027906"/>
            <a:ext cx="4283968" cy="199988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bg2">
                  <a:lumMod val="75000"/>
                </a:schemeClr>
              </a:buClr>
              <a:buFont typeface="Arial" pitchFamily="34" charset="0"/>
              <a:buChar char="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endParaRPr lang="en-GB" sz="1800" b="1" dirty="0"/>
          </a:p>
          <a:p>
            <a:pPr marL="457200" lvl="1" indent="0">
              <a:buNone/>
            </a:pPr>
            <a:endParaRPr lang="en-GB" sz="1600" dirty="0"/>
          </a:p>
          <a:p>
            <a:endParaRPr lang="fr-FR" sz="2000" dirty="0"/>
          </a:p>
          <a:p>
            <a:pPr lvl="1"/>
            <a:endParaRPr lang="en-GB" sz="1600" dirty="0"/>
          </a:p>
          <a:p>
            <a:pPr marL="0" indent="0">
              <a:buFont typeface="Arial" pitchFamily="34" charset="0"/>
              <a:buNone/>
            </a:pPr>
            <a:endParaRPr lang="fr-FR" sz="18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58454B4-7E33-D3E3-4A6E-1ADEFFEBEF8A}"/>
              </a:ext>
            </a:extLst>
          </p:cNvPr>
          <p:cNvSpPr txBox="1"/>
          <p:nvPr/>
        </p:nvSpPr>
        <p:spPr>
          <a:xfrm>
            <a:off x="6414656" y="1920531"/>
            <a:ext cx="6102926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800" b="1" dirty="0"/>
              <a:t>Course summary:</a:t>
            </a:r>
          </a:p>
          <a:p>
            <a:pPr lvl="1">
              <a:spcBef>
                <a:spcPts val="0"/>
              </a:spcBef>
            </a:pPr>
            <a:r>
              <a:rPr lang="en-GB" sz="1600" dirty="0"/>
              <a:t>CM : 		4 x 1h45</a:t>
            </a:r>
          </a:p>
          <a:p>
            <a:pPr lvl="1">
              <a:spcBef>
                <a:spcPts val="0"/>
              </a:spcBef>
            </a:pPr>
            <a:r>
              <a:rPr lang="fr-FR" sz="1600" dirty="0"/>
              <a:t>Projet</a:t>
            </a:r>
            <a:r>
              <a:rPr lang="en-GB" sz="1600" dirty="0"/>
              <a:t> :	4 x 3h30</a:t>
            </a:r>
          </a:p>
          <a:p>
            <a:pPr lvl="1">
              <a:spcBef>
                <a:spcPts val="0"/>
              </a:spcBef>
            </a:pPr>
            <a:endParaRPr lang="en-GB" sz="900" b="1" dirty="0"/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800" b="1" dirty="0"/>
              <a:t>Evaluation: </a:t>
            </a:r>
            <a:r>
              <a:rPr lang="en-GB" sz="1600" dirty="0"/>
              <a:t>Rapport sur </a:t>
            </a:r>
            <a:r>
              <a:rPr lang="en-GB" sz="1600" dirty="0" err="1"/>
              <a:t>projet</a:t>
            </a:r>
            <a:endParaRPr lang="en-GB" sz="1600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69222496-2C0C-3692-47CF-43F14F0BAE6A}"/>
              </a:ext>
            </a:extLst>
          </p:cNvPr>
          <p:cNvCxnSpPr>
            <a:cxnSpLocks/>
          </p:cNvCxnSpPr>
          <p:nvPr/>
        </p:nvCxnSpPr>
        <p:spPr>
          <a:xfrm>
            <a:off x="5777345" y="1825625"/>
            <a:ext cx="0" cy="1344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666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233F83-4033-4751-A58B-DD4A1E09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127659-C3F7-4E70-AD7D-94050C0A7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102"/>
            <a:ext cx="10515600" cy="4738861"/>
          </a:xfrm>
        </p:spPr>
        <p:txBody>
          <a:bodyPr>
            <a:normAutofit/>
          </a:bodyPr>
          <a:lstStyle/>
          <a:p>
            <a:r>
              <a:rPr lang="fr-FR" b="1" dirty="0"/>
              <a:t>I. Introduction au Edge </a:t>
            </a:r>
            <a:r>
              <a:rPr lang="fr-FR" b="1" dirty="0" err="1"/>
              <a:t>Computing</a:t>
            </a:r>
            <a:endParaRPr lang="fr-FR" b="1" dirty="0"/>
          </a:p>
          <a:p>
            <a:endParaRPr lang="fr-FR" b="1" dirty="0"/>
          </a:p>
          <a:p>
            <a:r>
              <a:rPr lang="fr-FR" b="1" dirty="0"/>
              <a:t>II. Nécessité du Edge </a:t>
            </a:r>
            <a:r>
              <a:rPr lang="fr-FR" b="1" dirty="0" err="1"/>
              <a:t>Computing</a:t>
            </a:r>
            <a:r>
              <a:rPr lang="fr-FR" b="1" dirty="0"/>
              <a:t> </a:t>
            </a:r>
          </a:p>
          <a:p>
            <a:pPr marL="0" indent="0">
              <a:buNone/>
            </a:pPr>
            <a:endParaRPr lang="fr-FR" b="1" dirty="0"/>
          </a:p>
          <a:p>
            <a:r>
              <a:rPr lang="fr-FR" b="1" dirty="0"/>
              <a:t>III. Cas d’utilisation du Edge </a:t>
            </a:r>
            <a:r>
              <a:rPr lang="fr-FR" b="1" dirty="0" err="1"/>
              <a:t>Computing</a:t>
            </a:r>
            <a:endParaRPr lang="fr-FR" b="1" dirty="0"/>
          </a:p>
          <a:p>
            <a:endParaRPr lang="fr-FR" dirty="0"/>
          </a:p>
          <a:p>
            <a:r>
              <a:rPr lang="fr-FR" b="1" dirty="0"/>
              <a:t>IV. Solutions techniques</a:t>
            </a:r>
          </a:p>
          <a:p>
            <a:endParaRPr lang="fr-FR" b="1" dirty="0"/>
          </a:p>
          <a:p>
            <a:r>
              <a:rPr lang="fr-FR" b="1" dirty="0"/>
              <a:t>VII. Conclusion et Discussion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9242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3902ECAC-A9AD-40F3-8D3E-093E273D2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00" y="1601259"/>
            <a:ext cx="10515600" cy="1325563"/>
          </a:xfrm>
        </p:spPr>
        <p:txBody>
          <a:bodyPr/>
          <a:lstStyle/>
          <a:p>
            <a:r>
              <a:rPr lang="fr-FR" b="1" dirty="0"/>
              <a:t>Introduction au Edge </a:t>
            </a:r>
            <a:r>
              <a:rPr lang="fr-FR" b="1" dirty="0" err="1"/>
              <a:t>Computing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3067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233F83-4033-4751-A58B-DD4A1E09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Définition</a:t>
            </a:r>
            <a:endParaRPr lang="fr-FR" dirty="0"/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4034BA54-6C51-D37D-99F9-92D416C65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782" y="1565997"/>
            <a:ext cx="10972800" cy="4351338"/>
          </a:xfrm>
        </p:spPr>
        <p:txBody>
          <a:bodyPr>
            <a:normAutofit/>
          </a:bodyPr>
          <a:lstStyle/>
          <a:p>
            <a:r>
              <a:rPr lang="fr-FR" sz="2000" b="1" i="1" dirty="0"/>
              <a:t>Edge </a:t>
            </a:r>
            <a:r>
              <a:rPr lang="fr-FR" sz="2000" b="1" i="1" dirty="0" err="1"/>
              <a:t>computing</a:t>
            </a:r>
            <a:r>
              <a:rPr lang="fr-FR" sz="2000" dirty="0"/>
              <a:t> : </a:t>
            </a:r>
            <a:r>
              <a:rPr lang="fr-FR" sz="2000" i="1" dirty="0"/>
              <a:t>informatique en périphérie</a:t>
            </a:r>
            <a:r>
              <a:rPr lang="fr-FR" sz="2000" baseline="30000" dirty="0"/>
              <a:t> </a:t>
            </a:r>
            <a:r>
              <a:rPr lang="fr-FR" sz="2000" dirty="0"/>
              <a:t>ou </a:t>
            </a:r>
            <a:r>
              <a:rPr lang="fr-FR" sz="2000" i="1" dirty="0"/>
              <a:t>informatique en périphérie de réseau</a:t>
            </a:r>
          </a:p>
          <a:p>
            <a:endParaRPr lang="fr-FR" sz="2000" i="1" dirty="0"/>
          </a:p>
          <a:p>
            <a:pPr lvl="1"/>
            <a:r>
              <a:rPr lang="fr-FR" sz="1800" dirty="0"/>
              <a:t>En Hausse moyenne de 16% par an.</a:t>
            </a:r>
          </a:p>
          <a:p>
            <a:pPr lvl="1"/>
            <a:r>
              <a:rPr lang="fr-FR" sz="1800" dirty="0"/>
              <a:t>Marché de 40 Md$ en 2022 en Europe, estimé à 64 Md$ en 2025.</a:t>
            </a:r>
          </a:p>
          <a:p>
            <a:pPr lvl="1"/>
            <a:endParaRPr lang="fr-FR" sz="1800" dirty="0"/>
          </a:p>
          <a:p>
            <a:pPr lvl="1"/>
            <a:r>
              <a:rPr lang="fr-FR" sz="1800" dirty="0"/>
              <a:t>Méthode d'optimisation qui consiste à traiter les données au plus près de la source des données. </a:t>
            </a:r>
          </a:p>
          <a:p>
            <a:pPr marL="457200" lvl="1" indent="0">
              <a:buNone/>
            </a:pPr>
            <a:r>
              <a:rPr lang="fr-FR" sz="1800" dirty="0">
                <a:sym typeface="Wingdings" panose="05000000000000000000" pitchFamily="2" charset="2"/>
              </a:rPr>
              <a:t>     </a:t>
            </a:r>
            <a:r>
              <a:rPr lang="fr-FR" sz="1800" dirty="0"/>
              <a:t>minimisation des besoins en bande passante entre les capteurs et les centres de traitement des données</a:t>
            </a:r>
          </a:p>
          <a:p>
            <a:pPr marL="457200" lvl="1" indent="0">
              <a:buNone/>
            </a:pPr>
            <a:r>
              <a:rPr lang="fr-FR" sz="1800" dirty="0">
                <a:sym typeface="Wingdings" panose="05000000000000000000" pitchFamily="2" charset="2"/>
              </a:rPr>
              <a:t>      </a:t>
            </a:r>
            <a:r>
              <a:rPr lang="fr-FR" sz="1800" dirty="0"/>
              <a:t>évite la transmission de données nombreuses et peu pertinentes vers les centres de données ou le cloud, 	apportant fluidité et rapidité de réaction</a:t>
            </a:r>
          </a:p>
          <a:p>
            <a:pPr lvl="1"/>
            <a:r>
              <a:rPr lang="fr-FR" sz="1800" dirty="0"/>
              <a:t>Large éventail de techniques, notamment celle des réseaux de capteurs sans fil, l'acquisition de données transférables et itinérantes, l'analyse des signatures sur portables, le traitement coopératif en peer-to-peer.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5C5036E-44FC-9B0D-A02C-A3AEECAE3C26}"/>
              </a:ext>
            </a:extLst>
          </p:cNvPr>
          <p:cNvSpPr txBox="1"/>
          <p:nvPr/>
        </p:nvSpPr>
        <p:spPr>
          <a:xfrm>
            <a:off x="3263612" y="6405576"/>
            <a:ext cx="553709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/>
              <a:t>https://semiconductor.samsung.com/emea/support/tools-resources/dictionary/edge-computing/</a:t>
            </a:r>
            <a:endParaRPr lang="fr-FR" sz="1050" dirty="0"/>
          </a:p>
        </p:txBody>
      </p:sp>
    </p:spTree>
    <p:extLst>
      <p:ext uri="{BB962C8B-B14F-4D97-AF65-F5344CB8AC3E}">
        <p14:creationId xmlns:p14="http://schemas.microsoft.com/office/powerpoint/2010/main" val="1951705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233F83-4033-4751-A58B-DD4A1E09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Définition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C9D47AD-A5AF-8CDB-C2A6-61EB1C788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084" y="1690688"/>
            <a:ext cx="8112432" cy="389731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5C5036E-44FC-9B0D-A02C-A3AEECAE3C26}"/>
              </a:ext>
            </a:extLst>
          </p:cNvPr>
          <p:cNvSpPr txBox="1"/>
          <p:nvPr/>
        </p:nvSpPr>
        <p:spPr>
          <a:xfrm>
            <a:off x="3411394" y="5588000"/>
            <a:ext cx="553709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https://semiconductor.samsung.com/emea/support/tools-resources/dictionary/edge-computing/</a:t>
            </a:r>
          </a:p>
        </p:txBody>
      </p:sp>
      <p:sp>
        <p:nvSpPr>
          <p:cNvPr id="3" name="Parenthèses 2">
            <a:extLst>
              <a:ext uri="{FF2B5EF4-FFF2-40B4-BE49-F238E27FC236}">
                <a16:creationId xmlns:a16="http://schemas.microsoft.com/office/drawing/2014/main" id="{C917C3F1-C251-3E69-DAA4-C4F1F58DFDC1}"/>
              </a:ext>
            </a:extLst>
          </p:cNvPr>
          <p:cNvSpPr/>
          <p:nvPr/>
        </p:nvSpPr>
        <p:spPr>
          <a:xfrm>
            <a:off x="7558886" y="2308194"/>
            <a:ext cx="2286450" cy="958788"/>
          </a:xfrm>
          <a:prstGeom prst="bracketPair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8215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233F83-4033-4751-A58B-DD4A1E09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cas des systèmes embarqués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9984F56C-6160-41F4-4BD0-9CB8E6A88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Edge </a:t>
            </a:r>
            <a:r>
              <a:rPr lang="fr-FR" b="1" dirty="0" err="1"/>
              <a:t>computing</a:t>
            </a:r>
            <a:r>
              <a:rPr lang="fr-FR" b="1" dirty="0"/>
              <a:t> </a:t>
            </a:r>
            <a:r>
              <a:rPr lang="fr-FR" dirty="0"/>
              <a:t>: consiste à effecteur le maximum de traitement sur la cible/le système.</a:t>
            </a:r>
          </a:p>
          <a:p>
            <a:pPr lvl="1"/>
            <a:r>
              <a:rPr lang="fr-FR" dirty="0"/>
              <a:t>Nécessite une analyse approfondie pour trouver une </a:t>
            </a:r>
            <a:r>
              <a:rPr lang="fr-FR" b="1" dirty="0"/>
              <a:t>adéquation</a:t>
            </a:r>
            <a:r>
              <a:rPr lang="fr-FR" dirty="0"/>
              <a:t> entre spécifications, besoins, capacités matérielles…</a:t>
            </a:r>
          </a:p>
          <a:p>
            <a:pPr lvl="2"/>
            <a:r>
              <a:rPr lang="fr-FR" dirty="0"/>
              <a:t>Choix de l’algorithme</a:t>
            </a:r>
          </a:p>
          <a:p>
            <a:pPr lvl="2"/>
            <a:r>
              <a:rPr lang="fr-FR" dirty="0"/>
              <a:t>Choix de la cible</a:t>
            </a:r>
          </a:p>
          <a:p>
            <a:pPr lvl="2"/>
            <a:r>
              <a:rPr lang="fr-FR" dirty="0"/>
              <a:t>Choix des périphériques</a:t>
            </a:r>
          </a:p>
        </p:txBody>
      </p:sp>
      <p:pic>
        <p:nvPicPr>
          <p:cNvPr id="9" name="Image 8" descr="Une image contenant Appareils électroniques, Composant électronique, Composant de circuit, Composant de circuit passif">
            <a:extLst>
              <a:ext uri="{FF2B5EF4-FFF2-40B4-BE49-F238E27FC236}">
                <a16:creationId xmlns:a16="http://schemas.microsoft.com/office/drawing/2014/main" id="{6351B873-796D-9C6B-A2A0-C115528B3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5518" y="3326660"/>
            <a:ext cx="3805155" cy="28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734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3902ECAC-A9AD-40F3-8D3E-093E273D2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00" y="1601259"/>
            <a:ext cx="10515600" cy="1325563"/>
          </a:xfrm>
        </p:spPr>
        <p:txBody>
          <a:bodyPr/>
          <a:lstStyle/>
          <a:p>
            <a:r>
              <a:rPr lang="fr-FR" b="1" dirty="0"/>
              <a:t>Nécessité du Edge </a:t>
            </a:r>
            <a:r>
              <a:rPr lang="fr-FR" b="1" dirty="0" err="1"/>
              <a:t>Computing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2356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233F83-4033-4751-A58B-DD4A1E09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Diminution de la bande passante</a:t>
            </a:r>
          </a:p>
        </p:txBody>
      </p:sp>
      <p:pic>
        <p:nvPicPr>
          <p:cNvPr id="17" name="Image 16" descr="Une image contenant texte, capture d’écran, diagramme, ligne&#10;&#10;Description générée automatiquement">
            <a:extLst>
              <a:ext uri="{FF2B5EF4-FFF2-40B4-BE49-F238E27FC236}">
                <a16:creationId xmlns:a16="http://schemas.microsoft.com/office/drawing/2014/main" id="{8EC9BC04-4C6C-90B2-CD43-F0DDA06F6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81" y="1562677"/>
            <a:ext cx="6718300" cy="5038725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DCA5A887-7071-3FB5-0D89-7042F82EF848}"/>
              </a:ext>
            </a:extLst>
          </p:cNvPr>
          <p:cNvSpPr txBox="1"/>
          <p:nvPr/>
        </p:nvSpPr>
        <p:spPr>
          <a:xfrm>
            <a:off x="6862618" y="2069379"/>
            <a:ext cx="490339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Sans Edge </a:t>
            </a:r>
            <a:r>
              <a:rPr lang="fr-FR" dirty="0" err="1"/>
              <a:t>computing</a:t>
            </a:r>
            <a:r>
              <a:rPr lang="fr-FR" dirty="0"/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Transmission de grandes quantités de données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Fenêtre de transmission contraintes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Une partie des données peut être inutile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dirty="0"/>
              <a:t>Intérêt du Edge </a:t>
            </a:r>
            <a:r>
              <a:rPr lang="fr-FR" dirty="0" err="1"/>
              <a:t>computing</a:t>
            </a:r>
            <a:r>
              <a:rPr lang="fr-FR" dirty="0"/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Traiter les informations à bord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(plus) faible quantité de données à transmettre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Potentiellement plus de données pertinentes</a:t>
            </a:r>
            <a:br>
              <a:rPr lang="fr-FR" dirty="0"/>
            </a:br>
            <a:r>
              <a:rPr lang="fr-FR" dirty="0"/>
              <a:t>récupérées  </a:t>
            </a:r>
          </a:p>
        </p:txBody>
      </p:sp>
    </p:spTree>
    <p:extLst>
      <p:ext uri="{BB962C8B-B14F-4D97-AF65-F5344CB8AC3E}">
        <p14:creationId xmlns:p14="http://schemas.microsoft.com/office/powerpoint/2010/main" val="1645070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233F83-4033-4751-A58B-DD4A1E09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Diminution de la latence</a:t>
            </a:r>
          </a:p>
        </p:txBody>
      </p:sp>
      <p:pic>
        <p:nvPicPr>
          <p:cNvPr id="4" name="Image 3" descr="Une image contenant route, scène, voie, véhicule&#10;&#10;Description générée automatiquement">
            <a:extLst>
              <a:ext uri="{FF2B5EF4-FFF2-40B4-BE49-F238E27FC236}">
                <a16:creationId xmlns:a16="http://schemas.microsoft.com/office/drawing/2014/main" id="{1B61B144-C051-63AB-4917-18A929443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570" y="1690688"/>
            <a:ext cx="7696199" cy="4329112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5B3D680D-AC52-BAB6-EDE0-C9BE73F19E1F}"/>
              </a:ext>
            </a:extLst>
          </p:cNvPr>
          <p:cNvSpPr txBox="1"/>
          <p:nvPr/>
        </p:nvSpPr>
        <p:spPr>
          <a:xfrm>
            <a:off x="8488218" y="1865745"/>
            <a:ext cx="34266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Sans Edge </a:t>
            </a:r>
            <a:r>
              <a:rPr lang="fr-FR" dirty="0" err="1"/>
              <a:t>computing</a:t>
            </a:r>
            <a:r>
              <a:rPr lang="fr-FR" dirty="0"/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Chaque décision dépend du réseau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Latence = temps de transmission + temps de traitement + temps de retour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dirty="0"/>
              <a:t>Avec Edge </a:t>
            </a:r>
            <a:r>
              <a:rPr lang="fr-FR" dirty="0" err="1"/>
              <a:t>computing</a:t>
            </a:r>
            <a:r>
              <a:rPr lang="fr-FR" dirty="0"/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Traitement à bord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Décision plus rapide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dirty="0"/>
              <a:t>Ex : véhicule autonome</a:t>
            </a:r>
          </a:p>
        </p:txBody>
      </p:sp>
    </p:spTree>
    <p:extLst>
      <p:ext uri="{BB962C8B-B14F-4D97-AF65-F5344CB8AC3E}">
        <p14:creationId xmlns:p14="http://schemas.microsoft.com/office/powerpoint/2010/main" val="2590795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233F83-4033-4751-A58B-DD4A1E09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Autonomie</a:t>
            </a:r>
          </a:p>
        </p:txBody>
      </p:sp>
      <p:pic>
        <p:nvPicPr>
          <p:cNvPr id="5" name="Image 4" descr="Une image contenant nature, désert, dune, coucher de soleil&#10;&#10;Description générée automatiquement">
            <a:extLst>
              <a:ext uri="{FF2B5EF4-FFF2-40B4-BE49-F238E27FC236}">
                <a16:creationId xmlns:a16="http://schemas.microsoft.com/office/drawing/2014/main" id="{802373A5-F7CB-026D-1E25-1E2143B96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410" y="1829668"/>
            <a:ext cx="7464744" cy="401291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A3C23D5-33DA-A094-223A-DFBA10625BA5}"/>
              </a:ext>
            </a:extLst>
          </p:cNvPr>
          <p:cNvSpPr txBox="1"/>
          <p:nvPr/>
        </p:nvSpPr>
        <p:spPr>
          <a:xfrm>
            <a:off x="8580582" y="2041236"/>
            <a:ext cx="361141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Sans Edge </a:t>
            </a:r>
            <a:r>
              <a:rPr lang="fr-FR" dirty="0" err="1"/>
              <a:t>computing</a:t>
            </a:r>
            <a:r>
              <a:rPr lang="fr-FR" dirty="0"/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Besoin d’une couverture réseau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Besoin d’une alimentation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dirty="0"/>
              <a:t>Avec Edge </a:t>
            </a:r>
            <a:r>
              <a:rPr lang="fr-FR" dirty="0" err="1"/>
              <a:t>computing</a:t>
            </a:r>
            <a:r>
              <a:rPr lang="fr-FR" dirty="0"/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Intégration d’algorithmes frugaux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Traitement à bord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dirty="0"/>
              <a:t>Ex : flottes de capteurs disséminés dans la nature (montage, forêt, désert…)</a:t>
            </a:r>
          </a:p>
        </p:txBody>
      </p:sp>
    </p:spTree>
    <p:extLst>
      <p:ext uri="{BB962C8B-B14F-4D97-AF65-F5344CB8AC3E}">
        <p14:creationId xmlns:p14="http://schemas.microsoft.com/office/powerpoint/2010/main" val="3822895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892689-8CBC-296D-A2E4-FA0C593A8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Sécurisation des données</a:t>
            </a:r>
          </a:p>
        </p:txBody>
      </p:sp>
      <p:pic>
        <p:nvPicPr>
          <p:cNvPr id="5" name="Image 4" descr="Une image contenant clipart, Graphique, graphisme, dessin humoristique&#10;&#10;Description générée automatiquement">
            <a:extLst>
              <a:ext uri="{FF2B5EF4-FFF2-40B4-BE49-F238E27FC236}">
                <a16:creationId xmlns:a16="http://schemas.microsoft.com/office/drawing/2014/main" id="{A64D6908-EFB7-F5C3-D5B9-4465CA153D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062274" cy="406227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9EF77EEA-F346-CE0C-EC77-D1F4FE565202}"/>
              </a:ext>
            </a:extLst>
          </p:cNvPr>
          <p:cNvSpPr txBox="1"/>
          <p:nvPr/>
        </p:nvSpPr>
        <p:spPr>
          <a:xfrm>
            <a:off x="5699464" y="1766656"/>
            <a:ext cx="613668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Sans Edge </a:t>
            </a:r>
            <a:r>
              <a:rPr lang="fr-FR" dirty="0" err="1"/>
              <a:t>computing</a:t>
            </a:r>
            <a:r>
              <a:rPr lang="fr-FR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Echange de données sans fil =&gt; vol de données possibles</a:t>
            </a:r>
            <a:br>
              <a:rPr lang="fr-FR" dirty="0"/>
            </a:br>
            <a:r>
              <a:rPr lang="fr-FR" dirty="0"/>
              <a:t>(même si le cryptage limite le risque)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dirty="0"/>
              <a:t>Avec Edge </a:t>
            </a:r>
            <a:r>
              <a:rPr lang="fr-FR" dirty="0" err="1"/>
              <a:t>computing</a:t>
            </a:r>
            <a:r>
              <a:rPr lang="fr-FR" dirty="0"/>
              <a:t>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Données restent une cible matérielle, plus difficiles à pirater.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dirty="0"/>
              <a:t>Ex : données militaires ou données médicales</a:t>
            </a:r>
          </a:p>
        </p:txBody>
      </p:sp>
    </p:spTree>
    <p:extLst>
      <p:ext uri="{BB962C8B-B14F-4D97-AF65-F5344CB8AC3E}">
        <p14:creationId xmlns:p14="http://schemas.microsoft.com/office/powerpoint/2010/main" val="1302588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3902ECAC-A9AD-40F3-8D3E-093E273D2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00" y="1601259"/>
            <a:ext cx="10515600" cy="1325563"/>
          </a:xfrm>
        </p:spPr>
        <p:txBody>
          <a:bodyPr/>
          <a:lstStyle/>
          <a:p>
            <a:r>
              <a:rPr lang="fr-FR" b="1" dirty="0"/>
              <a:t>Cas d'Utilisation du Edge </a:t>
            </a:r>
            <a:r>
              <a:rPr lang="fr-FR" b="1" dirty="0" err="1"/>
              <a:t>Computing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80255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3C4BDD-5F30-B5DD-0BB7-89EA8F684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fr-FR" b="1" dirty="0"/>
              <a:t>Défense : </a:t>
            </a:r>
            <a:r>
              <a:rPr lang="fr-FR" dirty="0"/>
              <a:t>surveillance, guidage, navigation</a:t>
            </a:r>
          </a:p>
          <a:p>
            <a:pPr lvl="1"/>
            <a:r>
              <a:rPr lang="fr-FR" b="1" dirty="0"/>
              <a:t>Énergie : </a:t>
            </a:r>
            <a:r>
              <a:rPr lang="fr-FR" dirty="0"/>
              <a:t>pétrole (</a:t>
            </a:r>
            <a:r>
              <a:rPr lang="fr-FR" dirty="0" err="1"/>
              <a:t>sismo</a:t>
            </a:r>
            <a:r>
              <a:rPr lang="fr-FR" dirty="0"/>
              <a:t>.), électricité (diagnostic)</a:t>
            </a:r>
          </a:p>
          <a:p>
            <a:pPr lvl="1"/>
            <a:r>
              <a:rPr lang="fr-FR" b="1" dirty="0"/>
              <a:t>Transport : </a:t>
            </a:r>
            <a:r>
              <a:rPr lang="fr-FR" dirty="0"/>
              <a:t>automobile/automotive, aviation, ferré</a:t>
            </a:r>
          </a:p>
          <a:p>
            <a:pPr lvl="1"/>
            <a:r>
              <a:rPr lang="fr-FR" b="1" dirty="0"/>
              <a:t>Spatial : </a:t>
            </a:r>
            <a:r>
              <a:rPr lang="fr-FR" dirty="0"/>
              <a:t>imagerie, astrophysique, télémétrie</a:t>
            </a:r>
          </a:p>
          <a:p>
            <a:pPr lvl="1"/>
            <a:r>
              <a:rPr lang="fr-FR" b="1" dirty="0"/>
              <a:t>Télécommunications : </a:t>
            </a:r>
            <a:r>
              <a:rPr lang="fr-FR" dirty="0"/>
              <a:t>TV numérique, téléphonie mobile, IoT</a:t>
            </a:r>
          </a:p>
          <a:p>
            <a:pPr lvl="1"/>
            <a:r>
              <a:rPr lang="fr-FR" b="1" dirty="0"/>
              <a:t>Biophysique : </a:t>
            </a:r>
            <a:r>
              <a:rPr lang="fr-FR" dirty="0"/>
              <a:t>imagerie médicale, EEG, ECG, etc...</a:t>
            </a:r>
          </a:p>
          <a:p>
            <a:pPr lvl="1"/>
            <a:r>
              <a:rPr lang="fr-FR" b="1" dirty="0"/>
              <a:t>Instrumentation : </a:t>
            </a:r>
            <a:r>
              <a:rPr lang="fr-FR" dirty="0"/>
              <a:t>capteurs, métrologie</a:t>
            </a:r>
          </a:p>
          <a:p>
            <a:pPr lvl="1"/>
            <a:r>
              <a:rPr lang="fr-FR" b="1" dirty="0"/>
              <a:t>Grand public : </a:t>
            </a:r>
            <a:r>
              <a:rPr lang="fr-FR" dirty="0"/>
              <a:t>domotique, objets connectés, gaming</a:t>
            </a:r>
            <a:endParaRPr lang="fr-FR" sz="1800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E4702F2-C0A9-02FD-7626-F6306FE71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Domaine d’applications</a:t>
            </a:r>
          </a:p>
        </p:txBody>
      </p:sp>
    </p:spTree>
    <p:extLst>
      <p:ext uri="{BB962C8B-B14F-4D97-AF65-F5344CB8AC3E}">
        <p14:creationId xmlns:p14="http://schemas.microsoft.com/office/powerpoint/2010/main" val="1072684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185096-F406-3BA0-3687-71DF7FAE8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Défense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C4719E-7E08-EEA2-2BC8-E454033AA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Opérations:</a:t>
            </a:r>
          </a:p>
          <a:p>
            <a:pPr lvl="1"/>
            <a:r>
              <a:rPr lang="fr-FR" dirty="0"/>
              <a:t>Traitement de données sensibles (position de troupes, conditions du terrain…)</a:t>
            </a:r>
          </a:p>
          <a:p>
            <a:pPr lvl="1"/>
            <a:r>
              <a:rPr lang="fr-FR" dirty="0"/>
              <a:t>Analyse tactique rapide</a:t>
            </a:r>
          </a:p>
          <a:p>
            <a:pPr lvl="1"/>
            <a:r>
              <a:rPr lang="fr-FR" dirty="0"/>
              <a:t>…</a:t>
            </a:r>
          </a:p>
          <a:p>
            <a:pPr lvl="1"/>
            <a:endParaRPr lang="fr-FR" dirty="0"/>
          </a:p>
          <a:p>
            <a:r>
              <a:rPr lang="fr-FR" b="1" dirty="0"/>
              <a:t>Surveillance:</a:t>
            </a:r>
          </a:p>
          <a:p>
            <a:pPr lvl="1"/>
            <a:r>
              <a:rPr lang="fr-FR" dirty="0"/>
              <a:t>Informations satellite plus précise et concise</a:t>
            </a:r>
          </a:p>
          <a:p>
            <a:pPr lvl="1"/>
            <a:r>
              <a:rPr lang="fr-FR" dirty="0"/>
              <a:t>Information plus rapide, moins de latence</a:t>
            </a:r>
          </a:p>
        </p:txBody>
      </p:sp>
    </p:spTree>
    <p:extLst>
      <p:ext uri="{BB962C8B-B14F-4D97-AF65-F5344CB8AC3E}">
        <p14:creationId xmlns:p14="http://schemas.microsoft.com/office/powerpoint/2010/main" val="875507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233F83-4033-4751-A58B-DD4A1E09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Energie et transport (application industrielle)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CA5A887-7071-3FB5-0D89-7042F82EF848}"/>
              </a:ext>
            </a:extLst>
          </p:cNvPr>
          <p:cNvSpPr txBox="1"/>
          <p:nvPr/>
        </p:nvSpPr>
        <p:spPr>
          <a:xfrm>
            <a:off x="838200" y="1441306"/>
            <a:ext cx="1020618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Maintenance prédictive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Méthode permettant de prévenir les pannes de machines et de prédire quand une défaillance de l’équipement peut survenir</a:t>
            </a:r>
          </a:p>
          <a:p>
            <a:endParaRPr lang="fr-FR" dirty="0"/>
          </a:p>
          <a:p>
            <a:r>
              <a:rPr lang="fr-FR" b="1" dirty="0"/>
              <a:t>Contrôle de processus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Ensemble du matériel et des logiciels servant à piloter et surveiller le processus de fabrication de produits.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Nécessitent des flottes de capteurs pour mesurer température, pression, vibration…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Déploiement matériellement compliqué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Traitement logiciel (acquisition et agglomération de données) compliqué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b="1" dirty="0"/>
              <a:t>Avantages du Edge </a:t>
            </a:r>
            <a:r>
              <a:rPr lang="fr-FR" b="1" dirty="0" err="1"/>
              <a:t>computing</a:t>
            </a:r>
            <a:r>
              <a:rPr lang="fr-FR" b="1" dirty="0"/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Fonctionnement des systèmes hors ligne en cas de perte de la connexion réseau</a:t>
            </a:r>
          </a:p>
          <a:p>
            <a:pPr marL="268288" indent="-268288">
              <a:buFont typeface="Arial" panose="020B0604020202020204" pitchFamily="34" charset="0"/>
              <a:buChar char="•"/>
            </a:pPr>
            <a:r>
              <a:rPr lang="fr-FR" dirty="0"/>
              <a:t>Bande passante réseau améliorée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Temps de réponse plus rapides et meilleure efficacité opérationnelle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Sécurité des données accrues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Traitement local des données, agrégation et prise de décision rapide via des algorithmes d'analyse et l'apprentissage automatique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956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233F83-4033-4751-A58B-DD4A1E09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Véhicule autonome</a:t>
            </a:r>
          </a:p>
        </p:txBody>
      </p:sp>
      <p:pic>
        <p:nvPicPr>
          <p:cNvPr id="5" name="Image 4" descr="Une image contenant véhicule, Véhicule terrestre, roue, transport&#10;&#10;Description générée automatiquement">
            <a:extLst>
              <a:ext uri="{FF2B5EF4-FFF2-40B4-BE49-F238E27FC236}">
                <a16:creationId xmlns:a16="http://schemas.microsoft.com/office/drawing/2014/main" id="{00AEA835-7E66-C630-CC38-9583593598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607" y="3280353"/>
            <a:ext cx="3333750" cy="333375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30D1182-0834-6A53-C078-396810A73340}"/>
              </a:ext>
            </a:extLst>
          </p:cNvPr>
          <p:cNvSpPr txBox="1"/>
          <p:nvPr/>
        </p:nvSpPr>
        <p:spPr>
          <a:xfrm>
            <a:off x="674254" y="1589088"/>
            <a:ext cx="102061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Véhicule autonome : doit pouvoir détecter tout son environnement.</a:t>
            </a:r>
          </a:p>
          <a:p>
            <a:endParaRPr lang="fr-FR" b="1" dirty="0"/>
          </a:p>
          <a:p>
            <a:endParaRPr lang="fr-FR" dirty="0"/>
          </a:p>
          <a:p>
            <a:endParaRPr lang="fr-FR" dirty="0"/>
          </a:p>
          <a:p>
            <a:pPr marL="895350">
              <a:tabLst>
                <a:tab pos="442913" algn="l"/>
              </a:tabLst>
            </a:pPr>
            <a:endParaRPr lang="fr-FR" dirty="0"/>
          </a:p>
        </p:txBody>
      </p:sp>
      <p:pic>
        <p:nvPicPr>
          <p:cNvPr id="8" name="Image 7" descr="Une image contenant texte, capture d’écran, hélice">
            <a:extLst>
              <a:ext uri="{FF2B5EF4-FFF2-40B4-BE49-F238E27FC236}">
                <a16:creationId xmlns:a16="http://schemas.microsoft.com/office/drawing/2014/main" id="{CE294630-F7E1-2160-E1AC-AD3245CE70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63" b="8725"/>
          <a:stretch/>
        </p:blipFill>
        <p:spPr>
          <a:xfrm>
            <a:off x="7554257" y="0"/>
            <a:ext cx="4538451" cy="3121891"/>
          </a:xfrm>
          <a:prstGeom prst="rect">
            <a:avLst/>
          </a:prstGeom>
        </p:spPr>
      </p:pic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87C36A73-8D3F-D781-F9BF-E1DEBAD52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292388"/>
              </p:ext>
            </p:extLst>
          </p:nvPr>
        </p:nvGraphicFramePr>
        <p:xfrm>
          <a:off x="838200" y="2270101"/>
          <a:ext cx="6080766" cy="2904056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790522">
                  <a:extLst>
                    <a:ext uri="{9D8B030D-6E8A-4147-A177-3AD203B41FA5}">
                      <a16:colId xmlns:a16="http://schemas.microsoft.com/office/drawing/2014/main" val="1202587534"/>
                    </a:ext>
                  </a:extLst>
                </a:gridCol>
                <a:gridCol w="4290244">
                  <a:extLst>
                    <a:ext uri="{9D8B030D-6E8A-4147-A177-3AD203B41FA5}">
                      <a16:colId xmlns:a16="http://schemas.microsoft.com/office/drawing/2014/main" val="2256209837"/>
                    </a:ext>
                  </a:extLst>
                </a:gridCol>
              </a:tblGrid>
              <a:tr h="181381">
                <a:tc>
                  <a:txBody>
                    <a:bodyPr/>
                    <a:lstStyle/>
                    <a:p>
                      <a:pPr algn="just">
                        <a:lnSpc>
                          <a:spcPts val="1575"/>
                        </a:lnSpc>
                        <a:spcAft>
                          <a:spcPts val="800"/>
                        </a:spcAft>
                      </a:pPr>
                      <a:r>
                        <a:rPr lang="fr-FR" sz="1150" kern="0">
                          <a:effectLst/>
                        </a:rPr>
                        <a:t>Capteurs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575"/>
                        </a:lnSpc>
                        <a:spcAft>
                          <a:spcPts val="800"/>
                        </a:spcAft>
                      </a:pPr>
                      <a:r>
                        <a:rPr lang="fr-FR" sz="1150" kern="0">
                          <a:effectLst/>
                        </a:rPr>
                        <a:t>Application dans la voiture autonome 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8924740"/>
                  </a:ext>
                </a:extLst>
              </a:tr>
              <a:tr h="374402">
                <a:tc>
                  <a:txBody>
                    <a:bodyPr/>
                    <a:lstStyle/>
                    <a:p>
                      <a:pPr algn="just">
                        <a:lnSpc>
                          <a:spcPts val="1575"/>
                        </a:lnSpc>
                        <a:spcAft>
                          <a:spcPts val="800"/>
                        </a:spcAft>
                      </a:pPr>
                      <a:r>
                        <a:rPr lang="fr-FR" sz="1150" kern="0">
                          <a:effectLst/>
                        </a:rPr>
                        <a:t>Caméra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575"/>
                        </a:lnSpc>
                        <a:spcAft>
                          <a:spcPts val="800"/>
                        </a:spcAft>
                      </a:pPr>
                      <a:r>
                        <a:rPr lang="fr-FR" sz="1150" kern="0">
                          <a:effectLst/>
                        </a:rPr>
                        <a:t>Détection d’obstacles, aide pour se garer, détection de la route, détection des feux et des panneaux de signalisation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70888912"/>
                  </a:ext>
                </a:extLst>
              </a:tr>
              <a:tr h="374402">
                <a:tc>
                  <a:txBody>
                    <a:bodyPr/>
                    <a:lstStyle/>
                    <a:p>
                      <a:pPr algn="just">
                        <a:lnSpc>
                          <a:spcPts val="1575"/>
                        </a:lnSpc>
                        <a:spcAft>
                          <a:spcPts val="800"/>
                        </a:spcAft>
                      </a:pPr>
                      <a:r>
                        <a:rPr lang="fr-FR" sz="1150" kern="0">
                          <a:effectLst/>
                        </a:rPr>
                        <a:t>Radars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575"/>
                        </a:lnSpc>
                        <a:spcAft>
                          <a:spcPts val="800"/>
                        </a:spcAft>
                      </a:pPr>
                      <a:r>
                        <a:rPr lang="fr-FR" sz="1150" kern="0">
                          <a:effectLst/>
                        </a:rPr>
                        <a:t>Détection d’un obstacle sur le chemin de la voiture, du trafic environnant.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6508725"/>
                  </a:ext>
                </a:extLst>
              </a:tr>
              <a:tr h="181381">
                <a:tc>
                  <a:txBody>
                    <a:bodyPr/>
                    <a:lstStyle/>
                    <a:p>
                      <a:pPr algn="just">
                        <a:lnSpc>
                          <a:spcPts val="1575"/>
                        </a:lnSpc>
                        <a:spcAft>
                          <a:spcPts val="800"/>
                        </a:spcAft>
                      </a:pPr>
                      <a:r>
                        <a:rPr lang="fr-FR" sz="1150" kern="0">
                          <a:effectLst/>
                        </a:rPr>
                        <a:t>Lidars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575"/>
                        </a:lnSpc>
                        <a:spcAft>
                          <a:spcPts val="800"/>
                        </a:spcAft>
                      </a:pPr>
                      <a:r>
                        <a:rPr lang="fr-FR" sz="1150" kern="0">
                          <a:effectLst/>
                        </a:rPr>
                        <a:t>Mesure des distances, détection des obstacles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59389334"/>
                  </a:ext>
                </a:extLst>
              </a:tr>
              <a:tr h="181381">
                <a:tc>
                  <a:txBody>
                    <a:bodyPr/>
                    <a:lstStyle/>
                    <a:p>
                      <a:pPr algn="just">
                        <a:lnSpc>
                          <a:spcPts val="1575"/>
                        </a:lnSpc>
                        <a:spcAft>
                          <a:spcPts val="800"/>
                        </a:spcAft>
                      </a:pPr>
                      <a:r>
                        <a:rPr lang="fr-FR" sz="1150" kern="0">
                          <a:effectLst/>
                        </a:rPr>
                        <a:t>Odomètre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575"/>
                        </a:lnSpc>
                        <a:spcAft>
                          <a:spcPts val="800"/>
                        </a:spcAft>
                      </a:pPr>
                      <a:r>
                        <a:rPr lang="fr-FR" sz="1150" kern="0">
                          <a:effectLst/>
                        </a:rPr>
                        <a:t>Mesure de la vitesse ou de la distance parcourue par une voiture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6249047"/>
                  </a:ext>
                </a:extLst>
              </a:tr>
              <a:tr h="374402">
                <a:tc>
                  <a:txBody>
                    <a:bodyPr/>
                    <a:lstStyle/>
                    <a:p>
                      <a:pPr algn="just">
                        <a:lnSpc>
                          <a:spcPts val="1575"/>
                        </a:lnSpc>
                        <a:spcAft>
                          <a:spcPts val="800"/>
                        </a:spcAft>
                      </a:pPr>
                      <a:r>
                        <a:rPr lang="fr-FR" sz="1150" kern="0">
                          <a:effectLst/>
                        </a:rPr>
                        <a:t>Centrale inertielle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575"/>
                        </a:lnSpc>
                        <a:spcAft>
                          <a:spcPts val="800"/>
                        </a:spcAft>
                      </a:pPr>
                      <a:r>
                        <a:rPr lang="fr-FR" sz="1150" kern="0">
                          <a:effectLst/>
                        </a:rPr>
                        <a:t>Permet à la voiture de pouvoir connaitre ses déplacements et son positionnement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9916462"/>
                  </a:ext>
                </a:extLst>
              </a:tr>
              <a:tr h="181381">
                <a:tc>
                  <a:txBody>
                    <a:bodyPr/>
                    <a:lstStyle/>
                    <a:p>
                      <a:pPr algn="just">
                        <a:lnSpc>
                          <a:spcPts val="1575"/>
                        </a:lnSpc>
                        <a:spcAft>
                          <a:spcPts val="800"/>
                        </a:spcAft>
                      </a:pPr>
                      <a:r>
                        <a:rPr lang="fr-FR" sz="1150" kern="0">
                          <a:effectLst/>
                        </a:rPr>
                        <a:t>Capteur IR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575"/>
                        </a:lnSpc>
                        <a:spcAft>
                          <a:spcPts val="800"/>
                        </a:spcAft>
                      </a:pPr>
                      <a:r>
                        <a:rPr lang="fr-FR" sz="1150" kern="0">
                          <a:effectLst/>
                        </a:rPr>
                        <a:t>Détection de ligne blanche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9116195"/>
                  </a:ext>
                </a:extLst>
              </a:tr>
              <a:tr h="169259">
                <a:tc>
                  <a:txBody>
                    <a:bodyPr/>
                    <a:lstStyle/>
                    <a:p>
                      <a:pPr algn="just">
                        <a:lnSpc>
                          <a:spcPts val="1575"/>
                        </a:lnSpc>
                        <a:spcAft>
                          <a:spcPts val="800"/>
                        </a:spcAft>
                      </a:pPr>
                      <a:r>
                        <a:rPr lang="fr-FR" sz="1150" kern="0" dirty="0">
                          <a:effectLst/>
                        </a:rPr>
                        <a:t>Télémètre à ultrasons</a:t>
                      </a:r>
                      <a:endParaRPr lang="fr-FR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575"/>
                        </a:lnSpc>
                        <a:spcAft>
                          <a:spcPts val="800"/>
                        </a:spcAft>
                      </a:pPr>
                      <a:r>
                        <a:rPr lang="fr-FR" sz="1150" kern="0" dirty="0">
                          <a:effectLst/>
                        </a:rPr>
                        <a:t>Aide au stationnement</a:t>
                      </a:r>
                      <a:endParaRPr lang="fr-FR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0475105"/>
                  </a:ext>
                </a:extLst>
              </a:tr>
              <a:tr h="374402">
                <a:tc>
                  <a:txBody>
                    <a:bodyPr/>
                    <a:lstStyle/>
                    <a:p>
                      <a:pPr algn="just">
                        <a:lnSpc>
                          <a:spcPts val="1575"/>
                        </a:lnSpc>
                        <a:spcAft>
                          <a:spcPts val="800"/>
                        </a:spcAft>
                      </a:pPr>
                      <a:r>
                        <a:rPr lang="fr-FR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TPMS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575"/>
                        </a:lnSpc>
                        <a:spcAft>
                          <a:spcPts val="800"/>
                        </a:spcAft>
                      </a:pPr>
                      <a:r>
                        <a:rPr lang="fr-FR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Mesure de la pression des pneus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35940818"/>
                  </a:ext>
                </a:extLst>
              </a:tr>
              <a:tr h="374402">
                <a:tc>
                  <a:txBody>
                    <a:bodyPr/>
                    <a:lstStyle/>
                    <a:p>
                      <a:pPr algn="just">
                        <a:lnSpc>
                          <a:spcPts val="1575"/>
                        </a:lnSpc>
                        <a:spcAft>
                          <a:spcPts val="800"/>
                        </a:spcAft>
                      </a:pPr>
                      <a:r>
                        <a:rPr lang="fr-FR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Capteurs inertiels (accéléromètre, gyroscope)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575"/>
                        </a:lnSpc>
                        <a:spcAft>
                          <a:spcPts val="800"/>
                        </a:spcAft>
                      </a:pPr>
                      <a:r>
                        <a:rPr lang="fr-FR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Déclenchement d’airbags, aide à la conduite/correction de trajectoire (ESP, ABS)…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7531987"/>
                  </a:ext>
                </a:extLst>
              </a:tr>
            </a:tbl>
          </a:graphicData>
        </a:graphic>
      </p:graphicFrame>
      <p:sp>
        <p:nvSpPr>
          <p:cNvPr id="19" name="ZoneTexte 18">
            <a:extLst>
              <a:ext uri="{FF2B5EF4-FFF2-40B4-BE49-F238E27FC236}">
                <a16:creationId xmlns:a16="http://schemas.microsoft.com/office/drawing/2014/main" id="{CE3F8955-297A-1601-E68A-E857FEC1942B}"/>
              </a:ext>
            </a:extLst>
          </p:cNvPr>
          <p:cNvSpPr txBox="1"/>
          <p:nvPr/>
        </p:nvSpPr>
        <p:spPr>
          <a:xfrm>
            <a:off x="674254" y="5268912"/>
            <a:ext cx="610523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Véhicule autonome : </a:t>
            </a:r>
            <a:r>
              <a:rPr lang="fr-FR" b="1" dirty="0" err="1"/>
              <a:t>infotainement</a:t>
            </a:r>
            <a:endParaRPr lang="fr-FR" b="1" dirty="0"/>
          </a:p>
          <a:p>
            <a:r>
              <a:rPr lang="fr-FR" b="1" dirty="0">
                <a:sym typeface="Wingdings" panose="05000000000000000000" pitchFamily="2" charset="2"/>
              </a:rPr>
              <a:t></a:t>
            </a:r>
            <a:r>
              <a:rPr lang="fr-FR" sz="1400" dirty="0">
                <a:sym typeface="Wingdings" panose="05000000000000000000" pitchFamily="2" charset="2"/>
              </a:rPr>
              <a:t> Capteur dans l’habitacle pour déclencher des actions suite aux mouvements du conducteur, surveiller son état de fatigue…</a:t>
            </a:r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1C5EEA3-482D-AA7C-A677-2D0EB597320A}"/>
              </a:ext>
            </a:extLst>
          </p:cNvPr>
          <p:cNvSpPr txBox="1"/>
          <p:nvPr/>
        </p:nvSpPr>
        <p:spPr>
          <a:xfrm>
            <a:off x="645535" y="6257086"/>
            <a:ext cx="50104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Plus 200 capteurs sur un véhicule autonome !</a:t>
            </a:r>
          </a:p>
        </p:txBody>
      </p:sp>
    </p:spTree>
    <p:extLst>
      <p:ext uri="{BB962C8B-B14F-4D97-AF65-F5344CB8AC3E}">
        <p14:creationId xmlns:p14="http://schemas.microsoft.com/office/powerpoint/2010/main" val="3582414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233F83-4033-4751-A58B-DD4A1E09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Véhicule autonome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5464B86-EC4D-0B74-0069-F9A8CA8DC554}"/>
              </a:ext>
            </a:extLst>
          </p:cNvPr>
          <p:cNvSpPr txBox="1"/>
          <p:nvPr/>
        </p:nvSpPr>
        <p:spPr>
          <a:xfrm>
            <a:off x="618836" y="1460728"/>
            <a:ext cx="1020618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Deux techniques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Fusion de capteurs : </a:t>
            </a:r>
            <a:r>
              <a:rPr lang="fr-FR" dirty="0"/>
              <a:t>combinaison des données provenant de plusieurs capteurs. </a:t>
            </a:r>
            <a:br>
              <a:rPr lang="fr-FR" dirty="0"/>
            </a:br>
            <a:r>
              <a:rPr lang="fr-FR" dirty="0"/>
              <a:t>Permet des décisions plus sûres que grâce à des capteurs individuels, même s’ils ne sont pas tous totalement fiables. </a:t>
            </a:r>
            <a:br>
              <a:rPr lang="fr-FR" dirty="0"/>
            </a:br>
            <a:r>
              <a:rPr lang="fr-FR" dirty="0"/>
              <a:t>Plus de capteurs = meilleure réaction de la voiture en temps réel à divers scénarios de conduite.</a:t>
            </a:r>
            <a:br>
              <a:rPr lang="fr-FR" dirty="0"/>
            </a:br>
            <a:r>
              <a:rPr lang="fr-FR" dirty="0"/>
              <a:t>MAIS si calculateur unique : bande passante réduite, infrastructure plus compliquée à déployer.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Edge </a:t>
            </a:r>
            <a:r>
              <a:rPr lang="fr-FR" b="1" dirty="0" err="1"/>
              <a:t>computing</a:t>
            </a:r>
            <a:r>
              <a:rPr lang="fr-FR" b="1" dirty="0"/>
              <a:t> : </a:t>
            </a:r>
            <a:r>
              <a:rPr lang="fr-FR" dirty="0"/>
              <a:t>organisation d’un prétraitement des données avant décision pour accélérer la prise de décision et relâcher la tension sur le calculateur central.</a:t>
            </a:r>
            <a:br>
              <a:rPr lang="fr-FR" dirty="0"/>
            </a:br>
            <a:r>
              <a:rPr lang="fr-FR" dirty="0">
                <a:sym typeface="Wingdings" panose="05000000000000000000" pitchFamily="2" charset="2"/>
              </a:rPr>
              <a:t></a:t>
            </a:r>
            <a:r>
              <a:rPr lang="fr-FR" dirty="0"/>
              <a:t> sécurité améliorée</a:t>
            </a:r>
            <a:br>
              <a:rPr lang="fr-FR" dirty="0">
                <a:sym typeface="Wingdings" panose="05000000000000000000" pitchFamily="2" charset="2"/>
              </a:rPr>
            </a:br>
            <a:r>
              <a:rPr lang="fr-FR" dirty="0">
                <a:sym typeface="Wingdings" panose="05000000000000000000" pitchFamily="2" charset="2"/>
              </a:rPr>
              <a:t></a:t>
            </a:r>
            <a:r>
              <a:rPr lang="fr-FR" dirty="0"/>
              <a:t> latence réduite </a:t>
            </a:r>
            <a:br>
              <a:rPr lang="fr-FR" dirty="0">
                <a:sym typeface="Wingdings" panose="05000000000000000000" pitchFamily="2" charset="2"/>
              </a:rPr>
            </a:br>
            <a:r>
              <a:rPr lang="fr-FR" dirty="0">
                <a:sym typeface="Wingdings" panose="05000000000000000000" pitchFamily="2" charset="2"/>
              </a:rPr>
              <a:t></a:t>
            </a:r>
            <a:r>
              <a:rPr lang="fr-FR" dirty="0"/>
              <a:t> efficacité accrue</a:t>
            </a:r>
            <a:endParaRPr lang="fr-FR" b="1" dirty="0"/>
          </a:p>
          <a:p>
            <a:endParaRPr lang="fr-FR" dirty="0"/>
          </a:p>
          <a:p>
            <a:r>
              <a:rPr lang="fr-FR" dirty="0"/>
              <a:t>En outre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Edge </a:t>
            </a:r>
            <a:r>
              <a:rPr lang="fr-FR" dirty="0" err="1"/>
              <a:t>computing</a:t>
            </a:r>
            <a:r>
              <a:rPr lang="fr-FR" dirty="0"/>
              <a:t> = données de navigation analysées et utilisées en temps réel pour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améliorer la précision et la fiabilité des algorithmes de navigation </a:t>
            </a:r>
            <a:br>
              <a:rPr lang="fr-FR" dirty="0"/>
            </a:br>
            <a:r>
              <a:rPr lang="fr-FR" dirty="0">
                <a:sym typeface="Wingdings" panose="05000000000000000000" pitchFamily="2" charset="2"/>
              </a:rPr>
              <a:t> </a:t>
            </a:r>
            <a:r>
              <a:rPr lang="fr-FR" dirty="0"/>
              <a:t>itinéraires plus fluides et plus efficaces, ainsi sécurité accrue pour tous les usagers de la route.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fournir des informations prédictives sur les besoins potentiels d’entretien des véhicules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mieux comprendre les besoins des clients, les comportements de conduite et la manière dont les véhicules autonomes interagissent avec leur environnement. </a:t>
            </a:r>
          </a:p>
        </p:txBody>
      </p:sp>
    </p:spTree>
    <p:extLst>
      <p:ext uri="{BB962C8B-B14F-4D97-AF65-F5344CB8AC3E}">
        <p14:creationId xmlns:p14="http://schemas.microsoft.com/office/powerpoint/2010/main" val="4056745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233F83-4033-4751-A58B-DD4A1E09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Véhicule autonome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5464B86-EC4D-0B74-0069-F9A8CA8DC554}"/>
              </a:ext>
            </a:extLst>
          </p:cNvPr>
          <p:cNvSpPr txBox="1"/>
          <p:nvPr/>
        </p:nvSpPr>
        <p:spPr>
          <a:xfrm>
            <a:off x="618836" y="1460728"/>
            <a:ext cx="113884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Connectivité essentielle pour les véhicules autonomes : </a:t>
            </a:r>
            <a:r>
              <a:rPr lang="fr-FR" dirty="0"/>
              <a:t>communication entre véhicules et avec leur environnement, partage d’informations. </a:t>
            </a:r>
          </a:p>
          <a:p>
            <a:endParaRPr lang="fr-FR" dirty="0"/>
          </a:p>
          <a:p>
            <a:r>
              <a:rPr lang="fr-FR" dirty="0"/>
              <a:t>En particulier : développement de réseaux 5G dédiées aux flottes de véhicules autonomes.</a:t>
            </a:r>
          </a:p>
          <a:p>
            <a:endParaRPr lang="fr-FR" dirty="0"/>
          </a:p>
          <a:p>
            <a:r>
              <a:rPr lang="fr-FR" dirty="0"/>
              <a:t>Edge </a:t>
            </a:r>
            <a:r>
              <a:rPr lang="fr-FR" dirty="0" err="1"/>
              <a:t>Computing</a:t>
            </a:r>
            <a:r>
              <a:rPr lang="fr-FR" dirty="0"/>
              <a:t> = bande passante réduite, volume de données échangé réduit et données plus pertinentes.</a:t>
            </a:r>
          </a:p>
        </p:txBody>
      </p:sp>
      <p:pic>
        <p:nvPicPr>
          <p:cNvPr id="7" name="Image 6" descr="Une image contenant voiture, véhicule, Véhicule terrestre, ciel">
            <a:extLst>
              <a:ext uri="{FF2B5EF4-FFF2-40B4-BE49-F238E27FC236}">
                <a16:creationId xmlns:a16="http://schemas.microsoft.com/office/drawing/2014/main" id="{D80C7D2A-E652-AAA8-9C67-C1ED5E354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950" y="3429000"/>
            <a:ext cx="4640100" cy="30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255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233F83-4033-4751-A58B-DD4A1E09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Spatial et télécommunication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CA5A887-7071-3FB5-0D89-7042F82EF848}"/>
              </a:ext>
            </a:extLst>
          </p:cNvPr>
          <p:cNvSpPr txBox="1"/>
          <p:nvPr/>
        </p:nvSpPr>
        <p:spPr>
          <a:xfrm>
            <a:off x="838200" y="1441306"/>
            <a:ext cx="1020618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Cas de transmissions de données satellites (observation ou télécommunication)</a:t>
            </a:r>
          </a:p>
          <a:p>
            <a:endParaRPr lang="fr-FR" dirty="0"/>
          </a:p>
          <a:p>
            <a:r>
              <a:rPr lang="fr-FR" b="1" dirty="0"/>
              <a:t>Avantages du Edge </a:t>
            </a:r>
            <a:r>
              <a:rPr lang="fr-FR" b="1" dirty="0" err="1"/>
              <a:t>computing</a:t>
            </a:r>
            <a:r>
              <a:rPr lang="fr-FR" b="1" dirty="0"/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Fonctionnement des systèmes hors ligne en cas de perte de la connexion réseau</a:t>
            </a:r>
          </a:p>
          <a:p>
            <a:pPr marL="268288" indent="-268288">
              <a:buFont typeface="Arial" panose="020B0604020202020204" pitchFamily="34" charset="0"/>
              <a:buChar char="•"/>
            </a:pPr>
            <a:r>
              <a:rPr lang="fr-FR" dirty="0"/>
              <a:t>Bande passante réseau améliorée</a:t>
            </a:r>
          </a:p>
          <a:p>
            <a:pPr marL="268288" indent="-268288">
              <a:buFont typeface="Arial" panose="020B0604020202020204" pitchFamily="34" charset="0"/>
              <a:buChar char="•"/>
            </a:pPr>
            <a:r>
              <a:rPr lang="fr-FR" dirty="0"/>
              <a:t>Limitations de l’occupation mémoire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Temps de réponse plus rapides et meilleure efficacité opérationnelle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Sécurité des données accrues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Traitement local des données, agrégation et prise de décision rapide via des algorithmes d'analyse et l'apprentissage automatique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520432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233F83-4033-4751-A58B-DD4A1E09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Santé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2016B91-3559-0470-5150-5D4700FBBB53}"/>
              </a:ext>
            </a:extLst>
          </p:cNvPr>
          <p:cNvSpPr txBox="1"/>
          <p:nvPr/>
        </p:nvSpPr>
        <p:spPr>
          <a:xfrm>
            <a:off x="674254" y="1589088"/>
            <a:ext cx="1020618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Grand hôpital : </a:t>
            </a:r>
            <a:r>
              <a:rPr lang="fr-FR" dirty="0"/>
              <a:t>jusqu’à 85 000 dispositifs médicaux et IoT connectés</a:t>
            </a:r>
          </a:p>
          <a:p>
            <a:pPr marL="442913"/>
            <a:r>
              <a:rPr lang="fr-FR" dirty="0">
                <a:sym typeface="Wingdings" panose="05000000000000000000" pitchFamily="2" charset="2"/>
              </a:rPr>
              <a:t></a:t>
            </a:r>
            <a:r>
              <a:rPr lang="fr-FR" dirty="0"/>
              <a:t>pression énorme sur le réseau de soins de santé</a:t>
            </a:r>
          </a:p>
          <a:p>
            <a:pPr marL="628650" indent="-185738"/>
            <a:r>
              <a:rPr lang="fr-FR" dirty="0">
                <a:sym typeface="Wingdings" panose="05000000000000000000" pitchFamily="2" charset="2"/>
              </a:rPr>
              <a:t></a:t>
            </a:r>
            <a:r>
              <a:rPr lang="fr-FR" dirty="0"/>
              <a:t>Besoin que les cliniciens reçoivent des données de santé </a:t>
            </a:r>
            <a:r>
              <a:rPr lang="fr-FR" b="1" dirty="0"/>
              <a:t>pertinentes</a:t>
            </a:r>
            <a:r>
              <a:rPr lang="fr-FR" dirty="0"/>
              <a:t> et </a:t>
            </a:r>
            <a:r>
              <a:rPr lang="fr-FR" b="1" dirty="0"/>
              <a:t>rapidement </a:t>
            </a:r>
          </a:p>
          <a:p>
            <a:pPr marL="895350">
              <a:tabLst>
                <a:tab pos="442913" algn="l"/>
              </a:tabLst>
            </a:pPr>
            <a:r>
              <a:rPr lang="fr-FR" dirty="0">
                <a:sym typeface="Wingdings" panose="05000000000000000000" pitchFamily="2" charset="2"/>
              </a:rPr>
              <a:t>	Intérêt d’un traitement au plus près des dispositifs de mesure/capteurs</a:t>
            </a:r>
          </a:p>
          <a:p>
            <a:pPr marL="895350">
              <a:tabLst>
                <a:tab pos="442913" algn="l"/>
              </a:tabLst>
            </a:pPr>
            <a:endParaRPr lang="fr-FR" dirty="0">
              <a:sym typeface="Wingdings" panose="05000000000000000000" pitchFamily="2" charset="2"/>
            </a:endParaRPr>
          </a:p>
          <a:p>
            <a:r>
              <a:rPr lang="fr-FR" dirty="0"/>
              <a:t>Intérêt pour l’écosystème des dispositifs médicaux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les mêmes pour que pour les dispositifs IoT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réduire la latence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pour le suivi des patients dans les zones rurales : leurs appareils médicaux connectés peuvent </a:t>
            </a:r>
            <a:r>
              <a:rPr lang="fr-FR" b="1" dirty="0"/>
              <a:t>envoyer les données</a:t>
            </a:r>
            <a:r>
              <a:rPr lang="fr-FR" dirty="0"/>
              <a:t> directement au centre de soin en cas d’anomalie et l’alerte peut déclencher un protocole d’urgence médicale en cas de nécessité.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en milieu hospitalier : peut permettre aux équipes de soin d’intervenir rapidement et efficacement en soins intensifs quand les signes vitaux d’un patient sont critiques.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favoriser aussi le partage des données des patients via une </a:t>
            </a:r>
            <a:r>
              <a:rPr lang="fr-FR" b="1" dirty="0"/>
              <a:t>interface dédié centralisée</a:t>
            </a:r>
            <a:r>
              <a:rPr lang="fr-FR" dirty="0"/>
              <a:t>, qui permettra la création d’un seul dossier médical pour tous les professionnels de santé intervenant.</a:t>
            </a:r>
          </a:p>
          <a:p>
            <a:r>
              <a:rPr lang="fr-FR" dirty="0"/>
              <a:t>	</a:t>
            </a:r>
            <a:r>
              <a:rPr lang="fr-FR" dirty="0">
                <a:sym typeface="Wingdings" panose="05000000000000000000" pitchFamily="2" charset="2"/>
              </a:rPr>
              <a:t> </a:t>
            </a:r>
            <a:r>
              <a:rPr lang="fr-FR" dirty="0"/>
              <a:t>facilite la coordination des professionnels dans les prises de décisions et de concertation.</a:t>
            </a:r>
          </a:p>
          <a:p>
            <a:endParaRPr lang="fr-FR" dirty="0"/>
          </a:p>
          <a:p>
            <a:pPr marL="895350">
              <a:tabLst>
                <a:tab pos="442913" algn="l"/>
              </a:tabLst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63868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233F83-4033-4751-A58B-DD4A1E09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IoT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2016B91-3559-0470-5150-5D4700FBBB53}"/>
              </a:ext>
            </a:extLst>
          </p:cNvPr>
          <p:cNvSpPr txBox="1"/>
          <p:nvPr/>
        </p:nvSpPr>
        <p:spPr>
          <a:xfrm>
            <a:off x="674254" y="1589088"/>
            <a:ext cx="102061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IoT </a:t>
            </a:r>
            <a:r>
              <a:rPr lang="fr-FR" dirty="0"/>
              <a:t>: tous les appareils physiques connectés ou matériels qui reçoivent et transfèrent des données via un réseau, sans intervention humaine.</a:t>
            </a:r>
          </a:p>
          <a:p>
            <a:endParaRPr lang="fr-FR" dirty="0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78B322AF-68D4-50ED-E8C0-67E29B6E90F3}"/>
              </a:ext>
            </a:extLst>
          </p:cNvPr>
          <p:cNvGrpSpPr/>
          <p:nvPr/>
        </p:nvGrpSpPr>
        <p:grpSpPr>
          <a:xfrm>
            <a:off x="2820849" y="2276475"/>
            <a:ext cx="8059587" cy="4589860"/>
            <a:chOff x="2820849" y="2276475"/>
            <a:chExt cx="8059587" cy="4589860"/>
          </a:xfrm>
        </p:grpSpPr>
        <p:pic>
          <p:nvPicPr>
            <p:cNvPr id="5" name="Image 4" descr="Une image contenant texte, diagramme, ligne, capture d’écran">
              <a:extLst>
                <a:ext uri="{FF2B5EF4-FFF2-40B4-BE49-F238E27FC236}">
                  <a16:creationId xmlns:a16="http://schemas.microsoft.com/office/drawing/2014/main" id="{CC826CC9-CF04-6F23-E3AC-3C61F3A17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0849" y="2276475"/>
              <a:ext cx="6724835" cy="4312861"/>
            </a:xfrm>
            <a:prstGeom prst="rect">
              <a:avLst/>
            </a:prstGeom>
          </p:spPr>
        </p:pic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5F199298-2E84-3776-421F-19EF1DE743AF}"/>
                </a:ext>
              </a:extLst>
            </p:cNvPr>
            <p:cNvSpPr txBox="1"/>
            <p:nvPr/>
          </p:nvSpPr>
          <p:spPr>
            <a:xfrm>
              <a:off x="4775200" y="6589336"/>
              <a:ext cx="610523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200" dirty="0"/>
                <a:t>Crédit image : </a:t>
              </a:r>
              <a:r>
                <a:rPr lang="fr-FR" sz="1200" dirty="0">
                  <a:hlinkClick r:id="rId3"/>
                </a:rPr>
                <a:t>Iot-analytics.com</a:t>
              </a:r>
              <a:endParaRPr lang="fr-FR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58701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233F83-4033-4751-A58B-DD4A1E09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IoT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2016B91-3559-0470-5150-5D4700FBBB53}"/>
              </a:ext>
            </a:extLst>
          </p:cNvPr>
          <p:cNvSpPr txBox="1"/>
          <p:nvPr/>
        </p:nvSpPr>
        <p:spPr>
          <a:xfrm>
            <a:off x="674254" y="1589088"/>
            <a:ext cx="1020618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Avantages du Edge </a:t>
            </a:r>
            <a:r>
              <a:rPr lang="fr-FR" b="1" dirty="0" err="1"/>
              <a:t>Computing</a:t>
            </a:r>
            <a:r>
              <a:rPr lang="fr-FR" b="1" dirty="0"/>
              <a:t> pour les dispositifs IoT :</a:t>
            </a:r>
          </a:p>
          <a:p>
            <a:endParaRPr 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Réduction de la latence des communications entre les appareils IoT et les réseaux informatiques centraux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Temps de réponse plus rapides et meilleure efficacité opérationnelle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Bande passante réseau améliorée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Fonctionnement des systèmes hors ligne en cas de perte de la connexion réseau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Traitement local des données, agrégation et prise de décision rapide via des algorithmes d'analyse et l'apprentissage automatique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Sécurité des données accrues</a:t>
            </a:r>
          </a:p>
        </p:txBody>
      </p:sp>
    </p:spTree>
    <p:extLst>
      <p:ext uri="{BB962C8B-B14F-4D97-AF65-F5344CB8AC3E}">
        <p14:creationId xmlns:p14="http://schemas.microsoft.com/office/powerpoint/2010/main" val="26833770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233F83-4033-4751-A58B-DD4A1E09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Instrumentation / Environnement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2016B91-3559-0470-5150-5D4700FBBB53}"/>
              </a:ext>
            </a:extLst>
          </p:cNvPr>
          <p:cNvSpPr txBox="1"/>
          <p:nvPr/>
        </p:nvSpPr>
        <p:spPr>
          <a:xfrm>
            <a:off x="674254" y="1589088"/>
            <a:ext cx="1020618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Déploiement de capteurs en environnement contraint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Peu ou pas de réseau de télécommunication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Pas de réseau de électrique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Besoin d’autonomie de fonctionnement pendant plusieurs mois à plusieurs années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b="1" dirty="0"/>
              <a:t>Ex : </a:t>
            </a:r>
            <a:r>
              <a:rPr lang="fr-FR" dirty="0"/>
              <a:t>capteurs de pollution, d’analyse de l’air, d’analyse de la faune ou la flore, des glaciers…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 dirty="0"/>
          </a:p>
          <a:p>
            <a:r>
              <a:rPr lang="fr-FR" b="1" dirty="0"/>
              <a:t>Avantages du Edge </a:t>
            </a:r>
            <a:r>
              <a:rPr lang="fr-FR" b="1" dirty="0" err="1"/>
              <a:t>computing</a:t>
            </a:r>
            <a:endParaRPr 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Réduction de la latence des communications entre les appareils IoT et les réseaux informatiques centraux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Temps de réponse plus rapides et meilleure efficacité opérationnelle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Bande passante réseau améliorée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Fonctionnement des systèmes hors ligne en cas de perte de la connexion réseau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Traitement local des données, agrégation et prise de décision rapide via des algorithmes d'analyse et l'apprentissage automatique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Sécurité des données accrues</a:t>
            </a:r>
          </a:p>
        </p:txBody>
      </p:sp>
    </p:spTree>
    <p:extLst>
      <p:ext uri="{BB962C8B-B14F-4D97-AF65-F5344CB8AC3E}">
        <p14:creationId xmlns:p14="http://schemas.microsoft.com/office/powerpoint/2010/main" val="34365695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3902ECAC-A9AD-40F3-8D3E-093E273D2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00" y="1601259"/>
            <a:ext cx="10515600" cy="1325563"/>
          </a:xfrm>
        </p:spPr>
        <p:txBody>
          <a:bodyPr/>
          <a:lstStyle/>
          <a:p>
            <a:r>
              <a:rPr lang="fr-FR" b="1" dirty="0"/>
              <a:t>Solutions techniques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33217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233F83-4033-4751-A58B-DD4A1E09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Analyse du problème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5464B86-EC4D-0B74-0069-F9A8CA8DC554}"/>
              </a:ext>
            </a:extLst>
          </p:cNvPr>
          <p:cNvSpPr txBox="1"/>
          <p:nvPr/>
        </p:nvSpPr>
        <p:spPr>
          <a:xfrm>
            <a:off x="548498" y="1674674"/>
            <a:ext cx="113884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Analysez en profondeur vos besoins, la précision requise, les ressources à votre disposition, etc.</a:t>
            </a:r>
          </a:p>
          <a:p>
            <a:endParaRPr lang="fr-FR" b="1" dirty="0"/>
          </a:p>
          <a:p>
            <a:r>
              <a:rPr lang="fr-FR" b="1" dirty="0"/>
              <a:t>Les deux ressources critiques pour un système embarqué :</a:t>
            </a:r>
          </a:p>
          <a:p>
            <a:r>
              <a:rPr lang="fr-FR" dirty="0"/>
              <a:t>- les interfaces</a:t>
            </a:r>
          </a:p>
          <a:p>
            <a:r>
              <a:rPr lang="fr-FR" dirty="0"/>
              <a:t>- la mémoire</a:t>
            </a:r>
          </a:p>
          <a:p>
            <a:endParaRPr lang="fr-FR" b="1" dirty="0"/>
          </a:p>
          <a:p>
            <a:r>
              <a:rPr lang="fr-FR" dirty="0"/>
              <a:t>En particulier, même si les réseaux de neurones offrent souvent de très bonnes performances, ils ne présentent pas toujours le </a:t>
            </a:r>
            <a:r>
              <a:rPr lang="fr-FR" b="1" dirty="0"/>
              <a:t>meilleur rapport précision/</a:t>
            </a:r>
            <a:r>
              <a:rPr lang="fr-FR" b="1" dirty="0" err="1"/>
              <a:t>embarquabilité</a:t>
            </a:r>
            <a:r>
              <a:rPr lang="fr-FR" dirty="0"/>
              <a:t> car ils requièrent en particulier beaucoup de mémoire.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8300833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AD764ED-0BBB-0E8A-E669-399A97ABF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K-</a:t>
            </a:r>
            <a:r>
              <a:rPr lang="fr-FR" noProof="0" dirty="0" err="1"/>
              <a:t>Nearest</a:t>
            </a:r>
            <a:r>
              <a:rPr lang="fr-FR" noProof="0" dirty="0"/>
              <a:t> Neighbors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72DD9460-BBD6-26D7-7FAE-5708E88B2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fr-FR" sz="1800" dirty="0"/>
              <a:t>Algorithme </a:t>
            </a:r>
            <a:r>
              <a:rPr lang="fr-FR" sz="1800" b="1" dirty="0"/>
              <a:t>d’apprentissage supervisé</a:t>
            </a:r>
            <a:r>
              <a:rPr lang="fr-FR" sz="1800" dirty="0"/>
              <a:t>, analysant la proximité avec les instances d’entraînement pour classifier ou prévoir le groupe ou la valeur de la nouvelle instance.</a:t>
            </a:r>
          </a:p>
          <a:p>
            <a:pPr>
              <a:spcBef>
                <a:spcPts val="0"/>
              </a:spcBef>
            </a:pPr>
            <a:r>
              <a:rPr lang="fr-FR" sz="1800" b="1" dirty="0"/>
              <a:t>Applications:</a:t>
            </a:r>
          </a:p>
          <a:p>
            <a:pPr lvl="1"/>
            <a:r>
              <a:rPr lang="fr-FR" sz="1600" dirty="0"/>
              <a:t>Classification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fr-FR" sz="1600" dirty="0"/>
              <a:t>Régression</a:t>
            </a:r>
            <a:endParaRPr lang="fr-FR" sz="18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fr-FR" sz="1600" dirty="0"/>
              <a:t>Algorithme dit </a:t>
            </a:r>
            <a:r>
              <a:rPr lang="fr-FR" sz="1600" b="1" i="1" dirty="0" err="1"/>
              <a:t>lazy</a:t>
            </a:r>
            <a:r>
              <a:rPr lang="fr-FR" sz="1600" dirty="0"/>
              <a:t> : retient tout l’ensemble </a:t>
            </a:r>
            <a:br>
              <a:rPr lang="fr-FR" sz="1600" dirty="0"/>
            </a:br>
            <a:r>
              <a:rPr lang="fr-FR" sz="1600" dirty="0"/>
              <a:t>d’apprentissage (et ne repose pas sur une </a:t>
            </a:r>
            <a:br>
              <a:rPr lang="fr-FR" sz="1600" dirty="0"/>
            </a:br>
            <a:r>
              <a:rPr lang="fr-FR" sz="1600" dirty="0"/>
              <a:t>phase d’apprentissage) et ne traite des données</a:t>
            </a:r>
            <a:br>
              <a:rPr lang="fr-FR" sz="1600" dirty="0"/>
            </a:br>
            <a:r>
              <a:rPr lang="fr-FR" sz="1600" dirty="0"/>
              <a:t> que lorsqu’une opération de classification ou</a:t>
            </a:r>
            <a:br>
              <a:rPr lang="fr-FR" sz="1600" dirty="0"/>
            </a:br>
            <a:r>
              <a:rPr lang="fr-FR" sz="1600" dirty="0"/>
              <a:t>prédiction est requise.</a:t>
            </a:r>
          </a:p>
          <a:p>
            <a:r>
              <a:rPr lang="fr-FR" sz="1600" dirty="0"/>
              <a:t>Méthode </a:t>
            </a:r>
            <a:r>
              <a:rPr lang="fr-FR" sz="1600" b="1" i="1" dirty="0"/>
              <a:t>instance-</a:t>
            </a:r>
            <a:r>
              <a:rPr lang="fr-FR" sz="1600" b="1" i="1" dirty="0" err="1"/>
              <a:t>based</a:t>
            </a:r>
            <a:endParaRPr lang="fr-FR" sz="2400" b="1" dirty="0"/>
          </a:p>
        </p:txBody>
      </p:sp>
      <p:pic>
        <p:nvPicPr>
          <p:cNvPr id="15" name="Image 14" descr="Une image contenant diagramme&#10;&#10;Description générée automatiquement">
            <a:extLst>
              <a:ext uri="{FF2B5EF4-FFF2-40B4-BE49-F238E27FC236}">
                <a16:creationId xmlns:a16="http://schemas.microsoft.com/office/drawing/2014/main" id="{ED189951-ACA4-1285-CD06-0F24389339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5" r="5614" b="7367"/>
          <a:stretch/>
        </p:blipFill>
        <p:spPr>
          <a:xfrm>
            <a:off x="7218496" y="2457942"/>
            <a:ext cx="4363904" cy="385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8031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8EDC32-7675-4B8A-C678-8AABD8FF6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K-</a:t>
            </a:r>
            <a:r>
              <a:rPr lang="fr-FR" dirty="0" err="1"/>
              <a:t>Nearest</a:t>
            </a:r>
            <a:r>
              <a:rPr lang="fr-FR" dirty="0"/>
              <a:t> Neighbors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CBC57AD-E159-D3ED-6A87-F6C555F76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1800" b="1" dirty="0"/>
              <a:t>Avantages :</a:t>
            </a:r>
          </a:p>
          <a:p>
            <a:pPr lvl="1"/>
            <a:r>
              <a:rPr lang="fr-FR" sz="1600" b="1" dirty="0"/>
              <a:t>Facile à programmer : </a:t>
            </a:r>
            <a:r>
              <a:rPr lang="fr-FR" sz="1600" dirty="0"/>
              <a:t>calcul et comparaison de distance</a:t>
            </a:r>
          </a:p>
          <a:p>
            <a:pPr lvl="1"/>
            <a:r>
              <a:rPr lang="fr-FR" sz="1600" b="1" dirty="0"/>
              <a:t>S’adapte rapidement : </a:t>
            </a:r>
            <a:r>
              <a:rPr lang="fr-FR" sz="1600" dirty="0"/>
              <a:t>toute nouvelle instance d’entraînement est simplement ajouté en mémoire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fr-FR" sz="1600" b="1" dirty="0"/>
              <a:t>Peu d’hyperparamètres : </a:t>
            </a:r>
            <a:r>
              <a:rPr lang="fr-FR" sz="1600" dirty="0"/>
              <a:t>valeur de k et type de distance</a:t>
            </a:r>
          </a:p>
          <a:p>
            <a:r>
              <a:rPr lang="fr-FR" sz="1800" b="1" dirty="0"/>
              <a:t>Limites :</a:t>
            </a:r>
          </a:p>
          <a:p>
            <a:pPr lvl="1"/>
            <a:r>
              <a:rPr lang="fr-FR" sz="1600" dirty="0"/>
              <a:t>Peu pratique pour de systèmes à grandes quantité de données puisque c’est un algorithme </a:t>
            </a:r>
            <a:r>
              <a:rPr lang="fr-FR" sz="1600" i="1" dirty="0" err="1"/>
              <a:t>lazy</a:t>
            </a:r>
            <a:endParaRPr lang="fr-FR" sz="1600" dirty="0"/>
          </a:p>
          <a:p>
            <a:pPr lvl="1"/>
            <a:r>
              <a:rPr lang="fr-FR" sz="1600" dirty="0"/>
              <a:t>Ne se comporte pas efficacement pour des données de grande dimensionalité, en particulier lorsque l’ensemble d’entraînement est relativement restreint (nécessite une phase de sélection de </a:t>
            </a:r>
            <a:r>
              <a:rPr lang="fr-FR" sz="1600" dirty="0" err="1"/>
              <a:t>feature</a:t>
            </a:r>
            <a:r>
              <a:rPr lang="fr-FR" sz="1600" dirty="0"/>
              <a:t> et de réduction de dimensionnalité)</a:t>
            </a:r>
          </a:p>
          <a:p>
            <a:pPr lvl="1"/>
            <a:r>
              <a:rPr lang="fr-FR" sz="1600" dirty="0"/>
              <a:t>Tend à l</a:t>
            </a:r>
            <a:r>
              <a:rPr lang="fr-FR" sz="1600" i="1" dirty="0"/>
              <a:t>’</a:t>
            </a:r>
            <a:r>
              <a:rPr lang="fr-FR" sz="1600" i="1" dirty="0" err="1"/>
              <a:t>overfitting</a:t>
            </a:r>
            <a:r>
              <a:rPr lang="fr-FR" sz="1600" i="1" dirty="0"/>
              <a:t> </a:t>
            </a:r>
            <a:r>
              <a:rPr lang="fr-FR" sz="1600" dirty="0"/>
              <a:t>si k est trop faible</a:t>
            </a:r>
          </a:p>
          <a:p>
            <a:pPr lvl="1"/>
            <a:r>
              <a:rPr lang="fr-FR" sz="1600" dirty="0"/>
              <a:t>Tend à l’</a:t>
            </a:r>
            <a:r>
              <a:rPr lang="fr-FR" sz="1600" dirty="0" err="1"/>
              <a:t>underfitting</a:t>
            </a:r>
            <a:r>
              <a:rPr lang="fr-FR" sz="1600" dirty="0"/>
              <a:t> si k est trop fort : lisse les valeurs de prédiction en moyennant les valeurs de nombreuses instances sur un espace large. </a:t>
            </a:r>
          </a:p>
          <a:p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34865633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Espace réservé du contenu 12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9365ADAE-17A0-50FB-5C83-EECC1C3010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78" t="50370"/>
          <a:stretch/>
        </p:blipFill>
        <p:spPr>
          <a:xfrm>
            <a:off x="8131420" y="3386795"/>
            <a:ext cx="3096344" cy="301178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42D74F2-8503-621D-8A28-C454253CB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</a:t>
            </a:r>
          </a:p>
        </p:txBody>
      </p:sp>
      <p:pic>
        <p:nvPicPr>
          <p:cNvPr id="13" name="Espace réservé du contenu 12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113AA294-ECF9-E100-DBB7-159BD3FCE9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196"/>
          <a:stretch/>
        </p:blipFill>
        <p:spPr>
          <a:xfrm>
            <a:off x="2063859" y="3428999"/>
            <a:ext cx="6131566" cy="3011789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77E74B54-21ED-44CF-DDC1-195FFC94596A}"/>
                  </a:ext>
                </a:extLst>
              </p:cNvPr>
              <p:cNvSpPr txBox="1"/>
              <p:nvPr/>
            </p:nvSpPr>
            <p:spPr>
              <a:xfrm>
                <a:off x="992372" y="1690688"/>
                <a:ext cx="7015382" cy="21671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800" b="1" dirty="0"/>
                  <a:t>Linéaire :</a:t>
                </a:r>
              </a:p>
              <a:p>
                <a:pPr lvl="1"/>
                <a:r>
                  <a:rPr lang="fr-FR" sz="1600" dirty="0"/>
                  <a:t>Trouver une relation linéaire d’une variable de sortie par rapport à une autre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sz="1600" dirty="0"/>
              </a:p>
              <a:p>
                <a:r>
                  <a:rPr lang="fr-FR" sz="1800" b="1" dirty="0"/>
                  <a:t>Polynômiale :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FR" sz="1600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fr-FR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fr-FR" sz="1600" b="1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77E74B54-21ED-44CF-DDC1-195FFC945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372" y="1690688"/>
                <a:ext cx="7015382" cy="2167132"/>
              </a:xfrm>
              <a:prstGeom prst="rect">
                <a:avLst/>
              </a:prstGeom>
              <a:blipFill>
                <a:blip r:embed="rId3"/>
                <a:stretch>
                  <a:fillRect l="-782" t="-14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58649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CF3C197D-F764-2C3E-E930-5D64757D61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324"/>
          <a:stretch/>
        </p:blipFill>
        <p:spPr>
          <a:xfrm>
            <a:off x="7706755" y="2055813"/>
            <a:ext cx="3647045" cy="368344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0E887E1-4EE0-C447-D54B-7ECA045A7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4722F1-36FF-BDD6-A40A-09654649D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81911" cy="4351338"/>
          </a:xfrm>
        </p:spPr>
        <p:txBody>
          <a:bodyPr/>
          <a:lstStyle/>
          <a:p>
            <a:r>
              <a:rPr lang="fr-FR" sz="1800" b="1" dirty="0"/>
              <a:t>Logistique</a:t>
            </a:r>
          </a:p>
          <a:p>
            <a:pPr lvl="1"/>
            <a:r>
              <a:rPr lang="fr-FR" sz="1600" dirty="0"/>
              <a:t>Utilisée pour le classement et pas la régression. </a:t>
            </a:r>
          </a:p>
          <a:p>
            <a:pPr lvl="1"/>
            <a:r>
              <a:rPr lang="fr-FR" sz="1600" dirty="0"/>
              <a:t>Considéré comme une méthode de régression puisqu’elle donne la probabilité d’appartenir à une classe.</a:t>
            </a:r>
          </a:p>
          <a:p>
            <a:pPr lvl="1"/>
            <a:r>
              <a:rPr lang="fr-FR" sz="1600" dirty="0"/>
              <a:t>Trois types de régression logistique:</a:t>
            </a:r>
          </a:p>
          <a:p>
            <a:pPr lvl="2"/>
            <a:r>
              <a:rPr lang="fr-FR" sz="1600" dirty="0"/>
              <a:t>Régression logistique binaire : appartenance </a:t>
            </a:r>
            <a:br>
              <a:rPr lang="fr-FR" sz="1600" dirty="0"/>
            </a:br>
            <a:r>
              <a:rPr lang="fr-FR" sz="1600" dirty="0"/>
              <a:t>(ou non) d’un échantillon à une classe.</a:t>
            </a:r>
          </a:p>
          <a:p>
            <a:pPr lvl="2"/>
            <a:r>
              <a:rPr lang="fr-FR" sz="1600" dirty="0"/>
              <a:t>Régression logistique multinomiale : classe </a:t>
            </a:r>
            <a:br>
              <a:rPr lang="fr-FR" sz="1600" dirty="0"/>
            </a:br>
            <a:r>
              <a:rPr lang="fr-FR" sz="1600" dirty="0"/>
              <a:t>d’un échantillon parmi plusieurs classes.</a:t>
            </a:r>
          </a:p>
          <a:p>
            <a:pPr lvl="2"/>
            <a:r>
              <a:rPr lang="fr-FR" sz="1600" dirty="0"/>
              <a:t>Régression logistique ordinale: classe d’un </a:t>
            </a:r>
            <a:br>
              <a:rPr lang="fr-FR" sz="1600" dirty="0"/>
            </a:br>
            <a:r>
              <a:rPr lang="fr-FR" sz="1600" dirty="0"/>
              <a:t>échantillon parmi des classes ordonnées. </a:t>
            </a:r>
            <a:br>
              <a:rPr lang="fr-FR" sz="1600" dirty="0"/>
            </a:br>
            <a:r>
              <a:rPr lang="fr-FR" sz="1600" dirty="0"/>
              <a:t>Exemple : non satisfait, satisfait, très satisfait.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75378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E21656D-3F69-3AC3-D954-F92BFDF64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sz="1800" b="1" dirty="0"/>
              <a:t>Avantages</a:t>
            </a:r>
          </a:p>
          <a:p>
            <a:pPr lvl="1"/>
            <a:r>
              <a:rPr lang="fr-FR" sz="1600" dirty="0"/>
              <a:t>La régression linéaire : simple à comprendre et expliquer</a:t>
            </a:r>
          </a:p>
          <a:p>
            <a:pPr lvl="1"/>
            <a:r>
              <a:rPr lang="fr-FR" sz="1600" dirty="0"/>
              <a:t>La régression polynomiale : bonne approximation</a:t>
            </a:r>
          </a:p>
          <a:p>
            <a:pPr lvl="1"/>
            <a:r>
              <a:rPr lang="fr-FR" sz="1600" dirty="0"/>
              <a:t>La régression logistique : classification avec modèle facilement mis à jour.</a:t>
            </a:r>
          </a:p>
          <a:p>
            <a:r>
              <a:rPr lang="fr-FR" sz="1800" b="1" dirty="0"/>
              <a:t>Limites</a:t>
            </a:r>
          </a:p>
          <a:p>
            <a:pPr lvl="1"/>
            <a:r>
              <a:rPr lang="fr-FR" sz="1600" dirty="0"/>
              <a:t>La régression linéaire</a:t>
            </a:r>
          </a:p>
          <a:p>
            <a:pPr lvl="2"/>
            <a:r>
              <a:rPr lang="fr-FR" sz="1600" dirty="0"/>
              <a:t>mauvaises performances s’il n’y a pas une relation linéaire entre variables d’entrée et de sortie (ce qui est le cas de la plupart des phénomènes réels)</a:t>
            </a:r>
          </a:p>
          <a:p>
            <a:pPr lvl="2"/>
            <a:r>
              <a:rPr lang="fr-FR" sz="1600" dirty="0"/>
              <a:t>Sensible aux valeurs aberrantes</a:t>
            </a:r>
          </a:p>
          <a:p>
            <a:pPr lvl="1"/>
            <a:r>
              <a:rPr lang="fr-FR" sz="1600" dirty="0"/>
              <a:t>La régression polynomiale</a:t>
            </a:r>
          </a:p>
          <a:p>
            <a:pPr lvl="2"/>
            <a:r>
              <a:rPr lang="fr-FR" sz="1600" dirty="0"/>
              <a:t>Risque d’</a:t>
            </a:r>
            <a:r>
              <a:rPr lang="fr-FR" sz="1600" dirty="0" err="1"/>
              <a:t>overfitting</a:t>
            </a:r>
            <a:endParaRPr lang="fr-FR" sz="1600" dirty="0"/>
          </a:p>
          <a:p>
            <a:pPr lvl="2"/>
            <a:r>
              <a:rPr lang="fr-FR" sz="1600" dirty="0"/>
              <a:t>Sensible aux valeurs aberrantes</a:t>
            </a:r>
          </a:p>
          <a:p>
            <a:pPr lvl="2"/>
            <a:r>
              <a:rPr lang="fr-FR" sz="1600" dirty="0"/>
              <a:t>Implémentation parfois compliquée, avec beaucoup de paramètres, pour des problèmes limités : on parle de régression généralisée sur des caractéristiques augmentées (par multiplication des caractéristiques originales). </a:t>
            </a:r>
          </a:p>
          <a:p>
            <a:pPr lvl="1"/>
            <a:r>
              <a:rPr lang="fr-FR" sz="1600" dirty="0"/>
              <a:t>La régression logistique</a:t>
            </a:r>
          </a:p>
          <a:p>
            <a:pPr lvl="2"/>
            <a:r>
              <a:rPr lang="fr-FR" sz="1600" dirty="0"/>
              <a:t>Donne une mauvaise performance lorsqu’il existe plusieurs limites de décision ou des limites de décision non linéaires.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5995D6B-A882-2537-58A1-864AA8F88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76DA7-6462-4495-965D-E91F9F2D8518}" type="slidenum">
              <a:rPr lang="fr-FR" smtClean="0"/>
              <a:pPr/>
              <a:t>32</a:t>
            </a:fld>
            <a:endParaRPr lang="fr-FR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CD66CAA-45B9-DB6B-6F5A-F8D9D958A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Régression</a:t>
            </a:r>
          </a:p>
        </p:txBody>
      </p:sp>
    </p:spTree>
    <p:extLst>
      <p:ext uri="{BB962C8B-B14F-4D97-AF65-F5344CB8AC3E}">
        <p14:creationId xmlns:p14="http://schemas.microsoft.com/office/powerpoint/2010/main" val="14212938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70595D-83F2-5F99-77C2-76E21A0C8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SVM (Support </a:t>
            </a:r>
            <a:r>
              <a:rPr lang="fr-FR" dirty="0" err="1"/>
              <a:t>Vector</a:t>
            </a:r>
            <a:r>
              <a:rPr lang="fr-FR" dirty="0"/>
              <a:t> Machines)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CBC57AD-E159-D3ED-6A87-F6C555F76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800" dirty="0"/>
              <a:t>Conceptualisées dans les années 1990 à partir d'une théorie d'apprentissage statistique développée par les informaticiens russes Vladimir </a:t>
            </a:r>
            <a:r>
              <a:rPr lang="fr-FR" sz="1800" dirty="0" err="1"/>
              <a:t>Vapnik</a:t>
            </a:r>
            <a:r>
              <a:rPr lang="fr-FR" sz="1800" dirty="0"/>
              <a:t> et Alexey </a:t>
            </a:r>
            <a:r>
              <a:rPr lang="fr-FR" sz="1800" dirty="0" err="1"/>
              <a:t>Chervonenkis</a:t>
            </a:r>
            <a:r>
              <a:rPr lang="fr-FR" sz="1800" dirty="0"/>
              <a:t> : la théorie de </a:t>
            </a:r>
            <a:r>
              <a:rPr lang="fr-FR" sz="1800" dirty="0" err="1"/>
              <a:t>Vapnik-Chervonenkis</a:t>
            </a:r>
            <a:endParaRPr lang="fr-FR" sz="1800" b="1" dirty="0"/>
          </a:p>
          <a:p>
            <a:r>
              <a:rPr lang="fr-FR" sz="1800" dirty="0"/>
              <a:t>Technique u</a:t>
            </a:r>
            <a:r>
              <a:rPr lang="fr-FR" sz="1800" dirty="0" err="1"/>
              <a:t>tilisée</a:t>
            </a:r>
            <a:r>
              <a:rPr lang="fr-FR" sz="1800" dirty="0"/>
              <a:t> principalement en classification mais également en régression</a:t>
            </a:r>
            <a:endParaRPr lang="fr-FR" sz="1800" b="1" dirty="0"/>
          </a:p>
          <a:p>
            <a:r>
              <a:rPr lang="fr-FR" sz="1800" b="1" dirty="0"/>
              <a:t>Idée : trouver une frontière (appelée hyperplan)</a:t>
            </a:r>
            <a:r>
              <a:rPr lang="en-US" sz="1800" dirty="0"/>
              <a:t> qui </a:t>
            </a:r>
            <a:br>
              <a:rPr lang="en-US" sz="1800" dirty="0"/>
            </a:br>
            <a:r>
              <a:rPr lang="en-US" sz="1800" dirty="0" err="1"/>
              <a:t>divise</a:t>
            </a:r>
            <a:r>
              <a:rPr lang="en-US" sz="1800" dirty="0"/>
              <a:t> de manière </a:t>
            </a:r>
            <a:r>
              <a:rPr lang="en-US" sz="1800" dirty="0" err="1"/>
              <a:t>optimale</a:t>
            </a:r>
            <a:r>
              <a:rPr lang="en-US" sz="1800" dirty="0"/>
              <a:t> un ensemble </a:t>
            </a:r>
            <a:r>
              <a:rPr lang="en-US" sz="1800" dirty="0" err="1"/>
              <a:t>contenant</a:t>
            </a:r>
            <a:r>
              <a:rPr lang="en-US" sz="1800" dirty="0"/>
              <a:t> 2 </a:t>
            </a:r>
            <a:br>
              <a:rPr lang="en-US" sz="1800" dirty="0"/>
            </a:br>
            <a:r>
              <a:rPr lang="en-US" sz="1800" dirty="0"/>
              <a:t>classes.</a:t>
            </a:r>
          </a:p>
          <a:p>
            <a:r>
              <a:rPr lang="en-US" sz="1800" b="1" dirty="0" err="1"/>
              <a:t>Vecteur</a:t>
            </a:r>
            <a:r>
              <a:rPr lang="en-US" sz="1800" b="1" dirty="0"/>
              <a:t> support : </a:t>
            </a:r>
            <a:r>
              <a:rPr lang="en-US" sz="1800" dirty="0"/>
              <a:t>instances les plus </a:t>
            </a:r>
            <a:r>
              <a:rPr lang="en-US" sz="1800" dirty="0" err="1"/>
              <a:t>proches</a:t>
            </a:r>
            <a:r>
              <a:rPr lang="en-US" sz="1800" dirty="0"/>
              <a:t> de </a:t>
            </a:r>
            <a:r>
              <a:rPr lang="en-US" sz="1800" dirty="0" err="1"/>
              <a:t>l’hyperplan</a:t>
            </a:r>
            <a:r>
              <a:rPr lang="en-US" sz="1800" dirty="0"/>
              <a:t>,</a:t>
            </a:r>
            <a:br>
              <a:rPr lang="en-US" sz="1800" dirty="0"/>
            </a:br>
            <a:r>
              <a:rPr lang="en-US" sz="1800" dirty="0" err="1"/>
              <a:t>telles</a:t>
            </a:r>
            <a:r>
              <a:rPr lang="en-US" sz="1800" dirty="0"/>
              <a:t> que, </a:t>
            </a:r>
            <a:r>
              <a:rPr lang="en-US" sz="1800" dirty="0" err="1"/>
              <a:t>s’ils</a:t>
            </a:r>
            <a:r>
              <a:rPr lang="en-US" sz="1800" dirty="0"/>
              <a:t> </a:t>
            </a:r>
            <a:r>
              <a:rPr lang="en-US" sz="1800" dirty="0" err="1"/>
              <a:t>sont</a:t>
            </a:r>
            <a:r>
              <a:rPr lang="en-US" sz="1800" dirty="0"/>
              <a:t> </a:t>
            </a:r>
            <a:r>
              <a:rPr lang="en-US" sz="1800" dirty="0" err="1"/>
              <a:t>supprimés</a:t>
            </a:r>
            <a:r>
              <a:rPr lang="en-US" sz="1800" dirty="0"/>
              <a:t>, la position de </a:t>
            </a:r>
            <a:r>
              <a:rPr lang="en-US" sz="1800" dirty="0" err="1"/>
              <a:t>l’hyperplan</a:t>
            </a:r>
            <a:br>
              <a:rPr lang="en-US" sz="1800" dirty="0"/>
            </a:br>
            <a:r>
              <a:rPr lang="en-US" sz="1800" dirty="0" err="1"/>
              <a:t>est</a:t>
            </a:r>
            <a:r>
              <a:rPr lang="en-US" sz="1800" dirty="0"/>
              <a:t> </a:t>
            </a:r>
            <a:r>
              <a:rPr lang="en-US" sz="1800" dirty="0" err="1"/>
              <a:t>modifié</a:t>
            </a:r>
            <a:r>
              <a:rPr lang="en-US" sz="1800" dirty="0"/>
              <a:t>. </a:t>
            </a:r>
          </a:p>
          <a:p>
            <a:pPr lvl="1"/>
            <a:r>
              <a:rPr lang="en-US" sz="1600" dirty="0"/>
              <a:t>Elements critiques de </a:t>
            </a:r>
            <a:r>
              <a:rPr lang="en-US" sz="1600" dirty="0" err="1"/>
              <a:t>l’ensemble</a:t>
            </a:r>
            <a:r>
              <a:rPr lang="en-US" sz="1600" dirty="0"/>
              <a:t> </a:t>
            </a:r>
            <a:r>
              <a:rPr lang="en-US" sz="1600" dirty="0" err="1"/>
              <a:t>d’entraînement</a:t>
            </a:r>
            <a:r>
              <a:rPr lang="en-US" sz="1600" dirty="0"/>
              <a:t>.</a:t>
            </a:r>
            <a:endParaRPr lang="fr-FR" sz="1600" b="1" dirty="0"/>
          </a:p>
          <a:p>
            <a:r>
              <a:rPr lang="fr-FR" sz="1800" b="1" dirty="0"/>
              <a:t>Comment déterminer l’hyperplan :</a:t>
            </a:r>
          </a:p>
          <a:p>
            <a:pPr lvl="1"/>
            <a:r>
              <a:rPr lang="en-US" sz="1600" dirty="0"/>
              <a:t>Marge = distance entre </a:t>
            </a:r>
            <a:r>
              <a:rPr lang="en-US" sz="1600" dirty="0" err="1"/>
              <a:t>l’hyperplane</a:t>
            </a:r>
            <a:r>
              <a:rPr lang="en-US" sz="1600" dirty="0"/>
              <a:t> et les instances les</a:t>
            </a:r>
            <a:br>
              <a:rPr lang="en-US" sz="1600" dirty="0"/>
            </a:br>
            <a:r>
              <a:rPr lang="en-US" sz="1600" dirty="0"/>
              <a:t>plus </a:t>
            </a:r>
            <a:r>
              <a:rPr lang="en-US" sz="1600" dirty="0" err="1"/>
              <a:t>proches</a:t>
            </a:r>
            <a:r>
              <a:rPr lang="en-US" sz="1600" dirty="0"/>
              <a:t> de </a:t>
            </a:r>
            <a:r>
              <a:rPr lang="en-US" sz="1600" dirty="0" err="1"/>
              <a:t>chaque</a:t>
            </a:r>
            <a:r>
              <a:rPr lang="en-US" sz="1600" dirty="0"/>
              <a:t> </a:t>
            </a:r>
            <a:r>
              <a:rPr lang="en-US" sz="1600" dirty="0" err="1"/>
              <a:t>classe</a:t>
            </a:r>
            <a:r>
              <a:rPr lang="en-US" sz="1600" dirty="0"/>
              <a:t>.</a:t>
            </a:r>
          </a:p>
          <a:p>
            <a:pPr lvl="1"/>
            <a:r>
              <a:rPr lang="en-US" sz="1600" dirty="0" err="1"/>
              <a:t>Déterminer</a:t>
            </a:r>
            <a:r>
              <a:rPr lang="en-US" sz="1600" dirty="0"/>
              <a:t> </a:t>
            </a:r>
            <a:r>
              <a:rPr lang="en-US" sz="1600" dirty="0" err="1"/>
              <a:t>l’hyperplan</a:t>
            </a:r>
            <a:r>
              <a:rPr lang="en-US" sz="1600" dirty="0"/>
              <a:t> = determiner la plus </a:t>
            </a:r>
            <a:r>
              <a:rPr lang="en-US" sz="1600" dirty="0" err="1"/>
              <a:t>grande</a:t>
            </a:r>
            <a:r>
              <a:rPr lang="en-US" sz="1600" dirty="0"/>
              <a:t> </a:t>
            </a:r>
            <a:br>
              <a:rPr lang="en-US" sz="1600" dirty="0"/>
            </a:br>
            <a:r>
              <a:rPr lang="en-US" sz="1600" dirty="0"/>
              <a:t>marge possible entre un hyperplane et les </a:t>
            </a:r>
            <a:r>
              <a:rPr lang="en-US" sz="1600" dirty="0" err="1"/>
              <a:t>données</a:t>
            </a:r>
            <a:r>
              <a:rPr lang="en-US" sz="1600" dirty="0"/>
              <a:t> </a:t>
            </a:r>
            <a:br>
              <a:rPr lang="en-US" sz="1600" dirty="0"/>
            </a:br>
            <a:r>
              <a:rPr lang="en-US" sz="1600" dirty="0" err="1"/>
              <a:t>d’entraînement</a:t>
            </a:r>
            <a:r>
              <a:rPr lang="en-US" sz="1600" dirty="0"/>
              <a:t>, de manière à </a:t>
            </a:r>
            <a:r>
              <a:rPr lang="en-US" sz="1600" dirty="0" err="1"/>
              <a:t>avoir</a:t>
            </a:r>
            <a:r>
              <a:rPr lang="en-US" sz="1600" dirty="0"/>
              <a:t> la plus </a:t>
            </a:r>
            <a:r>
              <a:rPr lang="en-US" sz="1600" dirty="0" err="1"/>
              <a:t>grande</a:t>
            </a:r>
            <a:r>
              <a:rPr lang="en-US" sz="1600" dirty="0"/>
              <a:t> </a:t>
            </a:r>
            <a:br>
              <a:rPr lang="en-US" sz="1600" dirty="0"/>
            </a:br>
            <a:r>
              <a:rPr lang="en-US" sz="1600" dirty="0"/>
              <a:t>hance de classifier </a:t>
            </a:r>
            <a:r>
              <a:rPr lang="en-US" sz="1600" dirty="0" err="1"/>
              <a:t>une</a:t>
            </a:r>
            <a:r>
              <a:rPr lang="en-US" sz="1600" dirty="0"/>
              <a:t> nouvelle instance </a:t>
            </a:r>
            <a:r>
              <a:rPr lang="en-US" sz="1600" dirty="0" err="1"/>
              <a:t>correctement</a:t>
            </a:r>
            <a:r>
              <a:rPr lang="en-US" sz="1600" dirty="0"/>
              <a:t>.</a:t>
            </a:r>
            <a:endParaRPr lang="fr-FR" sz="3600" dirty="0"/>
          </a:p>
        </p:txBody>
      </p:sp>
      <p:pic>
        <p:nvPicPr>
          <p:cNvPr id="3" name="Image 2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840681CF-5CFF-0A7F-E8C1-E766292B56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00" t="16400" r="24801" b="10801"/>
          <a:stretch/>
        </p:blipFill>
        <p:spPr>
          <a:xfrm>
            <a:off x="8228483" y="2605995"/>
            <a:ext cx="2468867" cy="200595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9B55C43-2FD6-0EAE-E8A4-3A6B43157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8483" y="4746887"/>
            <a:ext cx="3130025" cy="156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056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DE24B84E-74A4-F8AC-25BB-20D2B1389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SVM (Support </a:t>
            </a:r>
            <a:r>
              <a:rPr lang="fr-FR" dirty="0" err="1"/>
              <a:t>Vector</a:t>
            </a:r>
            <a:r>
              <a:rPr lang="fr-FR" dirty="0"/>
              <a:t> Machines)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CBC57AD-E159-D3ED-6A87-F6C555F76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2400" b="1" dirty="0"/>
              <a:t>Que se passe-t-il quand la frontière n’est pas claire ?</a:t>
            </a:r>
          </a:p>
          <a:p>
            <a:endParaRPr lang="fr-FR" sz="2400" dirty="0"/>
          </a:p>
          <a:p>
            <a:r>
              <a:rPr lang="en-US" sz="2400" dirty="0"/>
              <a:t>2D -&gt; 3D </a:t>
            </a:r>
            <a:r>
              <a:rPr lang="en-US" sz="2400" b="1" dirty="0"/>
              <a:t>!  </a:t>
            </a:r>
            <a:r>
              <a:rPr lang="en-US" sz="2400" b="1" dirty="0" err="1"/>
              <a:t>Astuce</a:t>
            </a:r>
            <a:r>
              <a:rPr lang="en-US" sz="2400" b="1" dirty="0"/>
              <a:t> du noyau</a:t>
            </a:r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r>
              <a:rPr lang="en-US" sz="2400" b="1" dirty="0" err="1"/>
              <a:t>Généralisable</a:t>
            </a:r>
            <a:r>
              <a:rPr lang="en-US" sz="2400" b="1" dirty="0"/>
              <a:t> à </a:t>
            </a:r>
            <a:r>
              <a:rPr lang="en-US" sz="2400" b="1" dirty="0" err="1"/>
              <a:t>toute</a:t>
            </a:r>
            <a:r>
              <a:rPr lang="en-US" sz="2400" b="1" dirty="0"/>
              <a:t> dimension.</a:t>
            </a:r>
            <a:endParaRPr lang="fr-FR" sz="2400" b="1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2A91AE5-3DB6-2FFA-5E45-8FDB1DC3CB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13" r="8278"/>
          <a:stretch/>
        </p:blipFill>
        <p:spPr>
          <a:xfrm>
            <a:off x="7987529" y="1469305"/>
            <a:ext cx="2435424" cy="1523877"/>
          </a:xfrm>
          <a:prstGeom prst="rect">
            <a:avLst/>
          </a:prstGeom>
        </p:spPr>
      </p:pic>
      <p:pic>
        <p:nvPicPr>
          <p:cNvPr id="8" name="Image 7" descr="Une image contenant texte, compétition sportive, sport&#10;&#10;Description générée automatiquement">
            <a:extLst>
              <a:ext uri="{FF2B5EF4-FFF2-40B4-BE49-F238E27FC236}">
                <a16:creationId xmlns:a16="http://schemas.microsoft.com/office/drawing/2014/main" id="{B46B39EE-1F26-B4E2-505E-3D1A6E4F71A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6" t="14655" r="11105" b="12546"/>
          <a:stretch/>
        </p:blipFill>
        <p:spPr>
          <a:xfrm>
            <a:off x="1874502" y="2993182"/>
            <a:ext cx="4420181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119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CBC57AD-E159-D3ED-6A87-F6C555F76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Avantages :</a:t>
            </a:r>
          </a:p>
          <a:p>
            <a:pPr lvl="1"/>
            <a:r>
              <a:rPr lang="fr-FR" dirty="0"/>
              <a:t>Grande précision</a:t>
            </a:r>
          </a:p>
          <a:p>
            <a:pPr lvl="1"/>
            <a:r>
              <a:rPr lang="fr-FR" dirty="0"/>
              <a:t>Fonctionne bien même avec des </a:t>
            </a:r>
            <a:r>
              <a:rPr lang="fr-FR" dirty="0" err="1"/>
              <a:t>datasets</a:t>
            </a:r>
            <a:r>
              <a:rPr lang="fr-FR" dirty="0"/>
              <a:t> réduits</a:t>
            </a:r>
          </a:p>
          <a:p>
            <a:pPr lvl="1"/>
            <a:r>
              <a:rPr lang="fr-FR" dirty="0"/>
              <a:t>Implémentation efficace car seules quelques instances (les SV) doivent être retenues en mémoire</a:t>
            </a:r>
          </a:p>
          <a:p>
            <a:pPr lvl="1"/>
            <a:endParaRPr lang="fr-FR" dirty="0"/>
          </a:p>
          <a:p>
            <a:r>
              <a:rPr lang="fr-FR" b="1" dirty="0"/>
              <a:t>Limites :</a:t>
            </a:r>
          </a:p>
          <a:p>
            <a:pPr lvl="1"/>
            <a:r>
              <a:rPr lang="fr-FR" dirty="0"/>
              <a:t>Complexité d’apprentissage en O(</a:t>
            </a:r>
            <a:r>
              <a:rPr lang="fr-FR" dirty="0" err="1"/>
              <a:t>nd</a:t>
            </a:r>
            <a:r>
              <a:rPr lang="fr-FR" dirty="0"/>
              <a:t>²)</a:t>
            </a:r>
          </a:p>
          <a:p>
            <a:pPr lvl="1"/>
            <a:r>
              <a:rPr lang="fr-FR" dirty="0"/>
              <a:t>Peu efficace en cas de bruit ou </a:t>
            </a:r>
            <a:r>
              <a:rPr lang="fr-FR" dirty="0" err="1"/>
              <a:t>outliers</a:t>
            </a:r>
            <a:r>
              <a:rPr lang="fr-FR" dirty="0"/>
              <a:t> dans le </a:t>
            </a:r>
            <a:r>
              <a:rPr lang="fr-FR" dirty="0" err="1"/>
              <a:t>dataset</a:t>
            </a:r>
            <a:r>
              <a:rPr lang="fr-FR" dirty="0"/>
              <a:t> ou dans le cas de classes qui se chevauchent</a:t>
            </a:r>
            <a:endParaRPr lang="en-US" dirty="0"/>
          </a:p>
          <a:p>
            <a:endParaRPr lang="fr-FR" b="1" dirty="0"/>
          </a:p>
          <a:p>
            <a:endParaRPr lang="fr-FR" dirty="0"/>
          </a:p>
        </p:txBody>
      </p:sp>
      <p:sp>
        <p:nvSpPr>
          <p:cNvPr id="4" name="Titre 2">
            <a:extLst>
              <a:ext uri="{FF2B5EF4-FFF2-40B4-BE49-F238E27FC236}">
                <a16:creationId xmlns:a16="http://schemas.microsoft.com/office/drawing/2014/main" id="{08B427D8-A232-24A7-5AEF-4405EF871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SVM (Support </a:t>
            </a:r>
            <a:r>
              <a:rPr lang="fr-FR" dirty="0" err="1"/>
              <a:t>Vector</a:t>
            </a:r>
            <a:r>
              <a:rPr lang="fr-FR" dirty="0"/>
              <a:t> Machines)</a:t>
            </a:r>
          </a:p>
        </p:txBody>
      </p:sp>
    </p:spTree>
    <p:extLst>
      <p:ext uri="{BB962C8B-B14F-4D97-AF65-F5344CB8AC3E}">
        <p14:creationId xmlns:p14="http://schemas.microsoft.com/office/powerpoint/2010/main" val="1362009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FAF5A0-43C5-A554-F0AA-D4F4FFF98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Arbre de décision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CBC57AD-E159-D3ED-6A87-F6C555F76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034" y="1594779"/>
            <a:ext cx="10515600" cy="4351338"/>
          </a:xfrm>
        </p:spPr>
        <p:txBody>
          <a:bodyPr>
            <a:noAutofit/>
          </a:bodyPr>
          <a:lstStyle/>
          <a:p>
            <a:r>
              <a:rPr lang="fr-FR" sz="1600" b="1" dirty="0"/>
              <a:t>Utilisé en prise de décision, classification ou régression</a:t>
            </a:r>
          </a:p>
          <a:p>
            <a:endParaRPr lang="fr-FR" sz="1600" b="1" dirty="0"/>
          </a:p>
          <a:p>
            <a:endParaRPr lang="fr-FR" sz="1600" b="1" dirty="0"/>
          </a:p>
          <a:p>
            <a:endParaRPr lang="fr-FR" sz="1600" b="1" dirty="0"/>
          </a:p>
          <a:p>
            <a:endParaRPr lang="fr-FR" sz="1600" b="1" dirty="0"/>
          </a:p>
          <a:p>
            <a:endParaRPr lang="fr-FR" sz="1600" b="1" dirty="0"/>
          </a:p>
          <a:p>
            <a:endParaRPr lang="fr-FR" sz="1600" b="1" dirty="0"/>
          </a:p>
          <a:p>
            <a:endParaRPr lang="fr-FR" sz="1600" b="1" dirty="0"/>
          </a:p>
          <a:p>
            <a:endParaRPr lang="fr-FR" sz="1600" b="1" dirty="0"/>
          </a:p>
          <a:p>
            <a:endParaRPr lang="fr-FR" sz="1600" b="1" dirty="0"/>
          </a:p>
          <a:p>
            <a:r>
              <a:rPr lang="fr-FR" sz="1600" dirty="0"/>
              <a:t>Structure descendante composée de </a:t>
            </a:r>
            <a:r>
              <a:rPr lang="fr-FR" sz="1600" b="1" dirty="0" err="1"/>
              <a:t>noeuds</a:t>
            </a:r>
            <a:r>
              <a:rPr lang="fr-FR" sz="1600" dirty="0"/>
              <a:t> : chaque </a:t>
            </a:r>
            <a:r>
              <a:rPr lang="fr-FR" sz="1600" dirty="0" err="1"/>
              <a:t>noeud</a:t>
            </a:r>
            <a:r>
              <a:rPr lang="fr-FR" sz="1600" dirty="0"/>
              <a:t> possède une condition qui amène à plusieurs réponses, ce qui dirige à un prochain </a:t>
            </a:r>
            <a:r>
              <a:rPr lang="fr-FR" sz="1600" dirty="0" err="1"/>
              <a:t>noeud</a:t>
            </a:r>
            <a:r>
              <a:rPr lang="fr-FR" sz="1600" dirty="0"/>
              <a:t>.</a:t>
            </a:r>
          </a:p>
          <a:p>
            <a:r>
              <a:rPr lang="fr-FR" sz="1600" dirty="0"/>
              <a:t>Le premier </a:t>
            </a:r>
            <a:r>
              <a:rPr lang="fr-FR" sz="1600" dirty="0" err="1"/>
              <a:t>noeud</a:t>
            </a:r>
            <a:r>
              <a:rPr lang="fr-FR" sz="1600" dirty="0"/>
              <a:t> est appelé </a:t>
            </a:r>
            <a:r>
              <a:rPr lang="fr-FR" sz="1600" b="1" dirty="0" err="1"/>
              <a:t>noeud</a:t>
            </a:r>
            <a:r>
              <a:rPr lang="fr-FR" sz="1600" b="1" dirty="0"/>
              <a:t> racine</a:t>
            </a:r>
            <a:r>
              <a:rPr lang="fr-FR" sz="1600" dirty="0"/>
              <a:t> et possède deux </a:t>
            </a:r>
            <a:r>
              <a:rPr lang="fr-FR" sz="1600" b="1" dirty="0" err="1"/>
              <a:t>noeuds</a:t>
            </a:r>
            <a:r>
              <a:rPr lang="fr-FR" sz="1600" b="1" dirty="0"/>
              <a:t> enfants pour un arbre binaire, n pour un arbre d’ordre n.</a:t>
            </a:r>
          </a:p>
          <a:p>
            <a:r>
              <a:rPr lang="fr-FR" sz="1600" dirty="0"/>
              <a:t>Lorsqu'un nœud donne la réponse, on dit que le nœud est </a:t>
            </a:r>
            <a:r>
              <a:rPr lang="fr-FR" sz="1600" b="1" dirty="0"/>
              <a:t>terminal.</a:t>
            </a:r>
          </a:p>
          <a:p>
            <a:r>
              <a:rPr lang="fr-FR" sz="1600" b="1" dirty="0"/>
              <a:t>Le nombre maximal de nœud sur un chemin est appelé profondeur</a:t>
            </a:r>
          </a:p>
          <a:p>
            <a:endParaRPr lang="fr-FR" sz="1600" b="1" dirty="0"/>
          </a:p>
          <a:p>
            <a:endParaRPr lang="fr-FR" sz="1600" dirty="0"/>
          </a:p>
        </p:txBody>
      </p:sp>
      <p:pic>
        <p:nvPicPr>
          <p:cNvPr id="3" name="Image 2" descr="Une image contenant diagramme&#10;&#10;Description générée automatiquement">
            <a:extLst>
              <a:ext uri="{FF2B5EF4-FFF2-40B4-BE49-F238E27FC236}">
                <a16:creationId xmlns:a16="http://schemas.microsoft.com/office/drawing/2014/main" id="{76E8E52A-4ED8-8443-2A78-BF3286002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425" y="2080679"/>
            <a:ext cx="5684611" cy="269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3031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CBC57AD-E159-D3ED-6A87-F6C555F76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fr-FR" sz="2000" dirty="0"/>
              <a:t>En classification, un arbre de décision contient des nœuds qui vont </a:t>
            </a:r>
            <a:r>
              <a:rPr lang="fr-FR" sz="2000" b="1" dirty="0"/>
              <a:t>subdiviser (split)</a:t>
            </a:r>
            <a:r>
              <a:rPr lang="fr-FR" sz="2000" dirty="0"/>
              <a:t> l'espace sous forme de rectangles : en fonction de la trajectoire d'une décision dans l'arbre, on se dirigera dans tel ou tel rectangle.</a:t>
            </a:r>
            <a:endParaRPr lang="fr-FR" sz="2000" b="1" dirty="0"/>
          </a:p>
          <a:p>
            <a:endParaRPr lang="fr-FR" sz="24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8E54E55-CA0E-7883-0F52-7BAA265137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800"/>
          <a:stretch/>
        </p:blipFill>
        <p:spPr>
          <a:xfrm>
            <a:off x="1593799" y="2700047"/>
            <a:ext cx="9004401" cy="3236062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BBE205E4-FD93-88C2-04EA-34BAA6F87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Arbre de décision</a:t>
            </a:r>
          </a:p>
        </p:txBody>
      </p:sp>
    </p:spTree>
    <p:extLst>
      <p:ext uri="{BB962C8B-B14F-4D97-AF65-F5344CB8AC3E}">
        <p14:creationId xmlns:p14="http://schemas.microsoft.com/office/powerpoint/2010/main" val="26393789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CBC57AD-E159-D3ED-6A87-F6C555F76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1" dirty="0"/>
              <a:t>Avantages:</a:t>
            </a:r>
          </a:p>
          <a:p>
            <a:pPr lvl="1"/>
            <a:r>
              <a:rPr lang="fr-FR" sz="2000" dirty="0"/>
              <a:t>Intéressant pour extraire de l’information d’une source de données obscure : permet de trouver les propriétés qui apportent le plus d’information pour déterminer la classe de chaque objet. </a:t>
            </a:r>
          </a:p>
          <a:p>
            <a:pPr lvl="1"/>
            <a:r>
              <a:rPr lang="fr-FR" sz="2000" dirty="0"/>
              <a:t>Ne nécessite que très peu de préparation des données.</a:t>
            </a:r>
          </a:p>
          <a:p>
            <a:pPr lvl="1"/>
            <a:endParaRPr lang="fr-FR" sz="2000" dirty="0"/>
          </a:p>
          <a:p>
            <a:r>
              <a:rPr lang="fr-FR" sz="2400" b="1" dirty="0"/>
              <a:t>Limites :</a:t>
            </a:r>
          </a:p>
          <a:p>
            <a:pPr lvl="1"/>
            <a:r>
              <a:rPr lang="fr-FR" sz="2000" dirty="0"/>
              <a:t>En régression : système </a:t>
            </a:r>
            <a:r>
              <a:rPr lang="fr-FR" sz="2000" i="1" dirty="0"/>
              <a:t>instance-</a:t>
            </a:r>
            <a:r>
              <a:rPr lang="fr-FR" sz="2000" i="1" dirty="0" err="1"/>
              <a:t>based</a:t>
            </a:r>
            <a:r>
              <a:rPr lang="fr-FR" sz="2000" i="1" dirty="0"/>
              <a:t>, </a:t>
            </a:r>
            <a:r>
              <a:rPr lang="fr-FR" sz="2000" dirty="0"/>
              <a:t>peu précis</a:t>
            </a:r>
            <a:endParaRPr lang="fr-FR" b="1" dirty="0"/>
          </a:p>
          <a:p>
            <a:pPr lvl="1"/>
            <a:r>
              <a:rPr lang="fr-FR" sz="2000" dirty="0"/>
              <a:t>Risque d’</a:t>
            </a:r>
            <a:r>
              <a:rPr lang="fr-FR" sz="2000" dirty="0" err="1"/>
              <a:t>overfitting</a:t>
            </a:r>
            <a:endParaRPr lang="fr-FR" sz="2000" dirty="0"/>
          </a:p>
          <a:p>
            <a:pPr lvl="1"/>
            <a:r>
              <a:rPr lang="fr-FR" sz="2000" dirty="0"/>
              <a:t>Peu adaptatif : chaque nouvelle donnée introduite dans l’ensemble d’entraînement peut invalider l’arbre : pas d’apprentissage online possible.</a:t>
            </a:r>
            <a:endParaRPr lang="fr-FR" sz="2000" b="1" dirty="0"/>
          </a:p>
          <a:p>
            <a:endParaRPr lang="fr-FR" sz="2400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273D8A51-A62B-1BE5-1754-980884767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Arbre de décision</a:t>
            </a:r>
          </a:p>
        </p:txBody>
      </p:sp>
    </p:spTree>
    <p:extLst>
      <p:ext uri="{BB962C8B-B14F-4D97-AF65-F5344CB8AC3E}">
        <p14:creationId xmlns:p14="http://schemas.microsoft.com/office/powerpoint/2010/main" val="18944784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338558-9E2C-7A4C-E7CB-ADD632BB5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CBC57AD-E159-D3ED-6A87-F6C555F76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6474"/>
            <a:ext cx="10515600" cy="4351338"/>
          </a:xfrm>
        </p:spPr>
        <p:txBody>
          <a:bodyPr>
            <a:normAutofit/>
          </a:bodyPr>
          <a:lstStyle/>
          <a:p>
            <a:r>
              <a:rPr lang="fr-FR" sz="2000" dirty="0"/>
              <a:t>Principe :</a:t>
            </a:r>
            <a:r>
              <a:rPr lang="fr-FR" sz="1400" dirty="0"/>
              <a:t> </a:t>
            </a:r>
            <a:r>
              <a:rPr lang="fr-FR" sz="2000" dirty="0"/>
              <a:t>entraînement de nombreux </a:t>
            </a:r>
            <a:r>
              <a:rPr lang="fr-FR" sz="2000" b="1" dirty="0"/>
              <a:t>arbres de décisions</a:t>
            </a:r>
            <a:r>
              <a:rPr lang="fr-FR" sz="2000" dirty="0"/>
              <a:t> sur des sous-ensembles mélangés du jeu de données initial, et calcul de </a:t>
            </a:r>
            <a:r>
              <a:rPr lang="fr-FR" sz="2000" b="1" dirty="0"/>
              <a:t>la classe la plus fréquente</a:t>
            </a:r>
            <a:r>
              <a:rPr lang="fr-FR" sz="2000" dirty="0"/>
              <a:t> (classification) ou de la moyenne (régression) de chaque arbre.</a:t>
            </a:r>
          </a:p>
        </p:txBody>
      </p:sp>
      <p:pic>
        <p:nvPicPr>
          <p:cNvPr id="3" name="Image 2" descr="Une image contenant diagramme&#10;&#10;Description générée automatiquement">
            <a:extLst>
              <a:ext uri="{FF2B5EF4-FFF2-40B4-BE49-F238E27FC236}">
                <a16:creationId xmlns:a16="http://schemas.microsoft.com/office/drawing/2014/main" id="{42780C8A-ED97-933A-293A-4845FC29A7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5620" y="2790672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4737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CBC57AD-E159-D3ED-6A87-F6C555F76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378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fr-FR" sz="1800" dirty="0"/>
              <a:t>Principe :</a:t>
            </a:r>
            <a:r>
              <a:rPr lang="fr-FR" sz="1200" dirty="0"/>
              <a:t> </a:t>
            </a:r>
            <a:r>
              <a:rPr lang="fr-FR" sz="1800" dirty="0"/>
              <a:t>entraînement de nombreux </a:t>
            </a:r>
            <a:r>
              <a:rPr lang="fr-FR" sz="1800" b="1" dirty="0"/>
              <a:t>arbres de décisions</a:t>
            </a:r>
            <a:r>
              <a:rPr lang="fr-FR" sz="1800" dirty="0"/>
              <a:t> sur des sous-ensembles mélangés du jeu de données initial, et calcul de </a:t>
            </a:r>
            <a:r>
              <a:rPr lang="fr-FR" sz="1800" b="1" dirty="0"/>
              <a:t>la classe la plus fréquente</a:t>
            </a:r>
            <a:r>
              <a:rPr lang="fr-FR" sz="1800" dirty="0"/>
              <a:t> (classification) ou de la moyenne (régression) de chaque arbre.</a:t>
            </a:r>
          </a:p>
          <a:p>
            <a:endParaRPr lang="fr-FR" sz="1800" dirty="0"/>
          </a:p>
          <a:p>
            <a:endParaRPr lang="fr-FR" sz="1800" dirty="0"/>
          </a:p>
          <a:p>
            <a:endParaRPr lang="fr-FR" sz="1800" dirty="0"/>
          </a:p>
          <a:p>
            <a:endParaRPr lang="fr-FR" sz="1800" dirty="0"/>
          </a:p>
          <a:p>
            <a:endParaRPr lang="fr-FR" sz="1800" dirty="0"/>
          </a:p>
          <a:p>
            <a:endParaRPr lang="fr-FR" sz="1800" dirty="0"/>
          </a:p>
          <a:p>
            <a:endParaRPr lang="fr-FR" sz="1800" dirty="0"/>
          </a:p>
          <a:p>
            <a:endParaRPr lang="fr-FR" sz="1800" dirty="0"/>
          </a:p>
          <a:p>
            <a:endParaRPr lang="fr-FR" sz="1800" dirty="0"/>
          </a:p>
          <a:p>
            <a:endParaRPr lang="fr-FR" sz="1800" dirty="0"/>
          </a:p>
          <a:p>
            <a:r>
              <a:rPr lang="fr-FR" sz="1800" dirty="0"/>
              <a:t>3 </a:t>
            </a:r>
            <a:r>
              <a:rPr lang="fr-FR" sz="1800" b="1" dirty="0" err="1"/>
              <a:t>hyper-paramètres</a:t>
            </a:r>
            <a:r>
              <a:rPr lang="fr-FR" sz="1800" b="1" dirty="0"/>
              <a:t> principaux:</a:t>
            </a:r>
          </a:p>
          <a:p>
            <a:pPr lvl="1"/>
            <a:r>
              <a:rPr lang="fr-FR" sz="1600" b="1" dirty="0"/>
              <a:t>taille des arbres</a:t>
            </a:r>
            <a:r>
              <a:rPr lang="fr-FR" sz="1600" dirty="0"/>
              <a:t> (le nombre de nœuds maximal), </a:t>
            </a:r>
          </a:p>
          <a:p>
            <a:pPr lvl="1"/>
            <a:r>
              <a:rPr lang="fr-FR" sz="1600" b="1" dirty="0"/>
              <a:t>nombre d’arbres</a:t>
            </a:r>
            <a:r>
              <a:rPr lang="fr-FR" sz="1600" dirty="0"/>
              <a:t> à utiliser et le </a:t>
            </a:r>
          </a:p>
          <a:p>
            <a:pPr lvl="1"/>
            <a:r>
              <a:rPr lang="fr-FR" sz="1600" b="1" dirty="0"/>
              <a:t>nombre de caractéristiques échantillonnées</a:t>
            </a:r>
            <a:endParaRPr lang="fr-FR" sz="3600" dirty="0"/>
          </a:p>
        </p:txBody>
      </p:sp>
      <p:pic>
        <p:nvPicPr>
          <p:cNvPr id="3" name="Image 2" descr="Une image contenant diagramme&#10;&#10;Description générée automatiquement">
            <a:extLst>
              <a:ext uri="{FF2B5EF4-FFF2-40B4-BE49-F238E27FC236}">
                <a16:creationId xmlns:a16="http://schemas.microsoft.com/office/drawing/2014/main" id="{42780C8A-ED97-933A-293A-4845FC29A7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0763" y="1907379"/>
            <a:ext cx="4945732" cy="3297155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4FDE26E1-CA02-C78F-D7BA-5838F1196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</a:t>
            </a:r>
          </a:p>
        </p:txBody>
      </p:sp>
    </p:spTree>
    <p:extLst>
      <p:ext uri="{BB962C8B-B14F-4D97-AF65-F5344CB8AC3E}">
        <p14:creationId xmlns:p14="http://schemas.microsoft.com/office/powerpoint/2010/main" val="12260513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CBC57AD-E159-D3ED-6A87-F6C555F76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000" b="1" dirty="0"/>
              <a:t>Avantages :</a:t>
            </a:r>
          </a:p>
          <a:p>
            <a:pPr lvl="1"/>
            <a:r>
              <a:rPr lang="fr-FR" sz="1800" dirty="0"/>
              <a:t>Rapide à entraîner </a:t>
            </a:r>
          </a:p>
          <a:p>
            <a:pPr lvl="1"/>
            <a:r>
              <a:rPr lang="fr-FR" sz="1800" dirty="0"/>
              <a:t>Grande précision parce qu'il combine les résultats de plusieurs sous-modèles non corrélés.</a:t>
            </a:r>
          </a:p>
          <a:p>
            <a:pPr lvl="1"/>
            <a:r>
              <a:rPr lang="fr-FR" sz="1800" dirty="0"/>
              <a:t>Résout les risques d’</a:t>
            </a:r>
            <a:r>
              <a:rPr lang="fr-FR" sz="1800" i="1" dirty="0" err="1"/>
              <a:t>overfitting</a:t>
            </a:r>
            <a:endParaRPr lang="fr-FR" sz="1800" i="1" dirty="0"/>
          </a:p>
          <a:p>
            <a:endParaRPr lang="fr-FR" sz="1800" i="1" dirty="0"/>
          </a:p>
          <a:p>
            <a:r>
              <a:rPr lang="fr-FR" sz="2000" b="1" dirty="0"/>
              <a:t>Limites :</a:t>
            </a:r>
          </a:p>
          <a:p>
            <a:pPr lvl="1"/>
            <a:r>
              <a:rPr lang="fr-FR" sz="1800" dirty="0"/>
              <a:t>Lorsque les </a:t>
            </a:r>
            <a:r>
              <a:rPr lang="fr-FR" sz="1800" b="1" dirty="0"/>
              <a:t>données sont éparses</a:t>
            </a:r>
            <a:r>
              <a:rPr lang="fr-FR" sz="1800" dirty="0"/>
              <a:t> ou lorsqu'il y a </a:t>
            </a:r>
            <a:r>
              <a:rPr lang="fr-FR" sz="1800" b="1" dirty="0"/>
              <a:t>plusieurs valeurs manquantes</a:t>
            </a:r>
            <a:r>
              <a:rPr lang="fr-FR" sz="1800" dirty="0"/>
              <a:t> dans le jeu de données, l’algorithme produira un </a:t>
            </a:r>
            <a:r>
              <a:rPr lang="fr-FR" sz="1800" b="1" dirty="0"/>
              <a:t>système invariant</a:t>
            </a:r>
            <a:r>
              <a:rPr lang="fr-FR" sz="1800" dirty="0"/>
              <a:t> qui mènera à des répartitions de nœuds non productives et donc, par la suite, à de </a:t>
            </a:r>
            <a:r>
              <a:rPr lang="fr-FR" sz="1800" b="1" dirty="0"/>
              <a:t>mauvais résultats</a:t>
            </a:r>
            <a:r>
              <a:rPr lang="fr-FR" sz="1800" dirty="0"/>
              <a:t>.</a:t>
            </a:r>
          </a:p>
          <a:p>
            <a:pPr lvl="1"/>
            <a:r>
              <a:rPr lang="fr-FR" sz="1800" dirty="0"/>
              <a:t>En régression : système </a:t>
            </a:r>
            <a:r>
              <a:rPr lang="fr-FR" sz="1800" i="1" dirty="0"/>
              <a:t>instance-</a:t>
            </a:r>
            <a:r>
              <a:rPr lang="fr-FR" sz="1800" i="1" dirty="0" err="1"/>
              <a:t>based</a:t>
            </a:r>
            <a:r>
              <a:rPr lang="fr-FR" sz="1800" i="1" dirty="0"/>
              <a:t>, </a:t>
            </a:r>
            <a:r>
              <a:rPr lang="fr-FR" sz="1800" dirty="0"/>
              <a:t>peu précis</a:t>
            </a:r>
            <a:endParaRPr lang="fr-FR" sz="2000" b="1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AF62EBF6-01C2-1686-A926-18414E7C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</a:t>
            </a:r>
          </a:p>
        </p:txBody>
      </p:sp>
    </p:spTree>
    <p:extLst>
      <p:ext uri="{BB962C8B-B14F-4D97-AF65-F5344CB8AC3E}">
        <p14:creationId xmlns:p14="http://schemas.microsoft.com/office/powerpoint/2010/main" val="13325982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FC5E0D-BC84-FF3A-FC62-2D562E30F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Réseaux de neurones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991659-F969-26D5-78CC-98676175C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668" y="1825625"/>
            <a:ext cx="10515600" cy="4351338"/>
          </a:xfrm>
        </p:spPr>
        <p:txBody>
          <a:bodyPr/>
          <a:lstStyle/>
          <a:p>
            <a:r>
              <a:rPr lang="fr-FR" dirty="0"/>
              <a:t>Voir cours de M. Goulart</a:t>
            </a:r>
          </a:p>
        </p:txBody>
      </p:sp>
      <p:pic>
        <p:nvPicPr>
          <p:cNvPr id="7" name="Image 6" descr="Une image contenant motif, capture d’écran, art, flocon de neige&#10;&#10;Description générée automatiquement">
            <a:extLst>
              <a:ext uri="{FF2B5EF4-FFF2-40B4-BE49-F238E27FC236}">
                <a16:creationId xmlns:a16="http://schemas.microsoft.com/office/drawing/2014/main" id="{FB6DDB42-E91F-1B5D-13AE-BD6384A830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63"/>
          <a:stretch/>
        </p:blipFill>
        <p:spPr>
          <a:xfrm rot="20543920">
            <a:off x="3750530" y="1257506"/>
            <a:ext cx="7014801" cy="482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539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9B8E36-90D5-1ABD-BAB0-34B3FAD1C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Réseaux de neurones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63CB84-0B58-7B81-3989-26F8436AB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Analyse d’une architecture de réseaux de neurones convolutifs pour la résolution du problème MNIST</a:t>
            </a:r>
          </a:p>
        </p:txBody>
      </p:sp>
      <p:pic>
        <p:nvPicPr>
          <p:cNvPr id="5" name="Image 4" descr="Une image contenant texte, Police, diagramme, motif&#10;&#10;Description générée automatiquement">
            <a:extLst>
              <a:ext uri="{FF2B5EF4-FFF2-40B4-BE49-F238E27FC236}">
                <a16:creationId xmlns:a16="http://schemas.microsoft.com/office/drawing/2014/main" id="{C6A03F1B-DDF2-78C9-BAC6-0B11F28C0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420" y="2883824"/>
            <a:ext cx="5471160" cy="373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7793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9B8E36-90D5-1ABD-BAB0-34B3FAD1C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Réseaux de neurones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63CB84-0B58-7B81-3989-26F8436AB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Analyse d’une architecture de réseaux de neurones convolutifs pour la résolution du problème MNIST</a:t>
            </a:r>
          </a:p>
        </p:txBody>
      </p:sp>
      <p:pic>
        <p:nvPicPr>
          <p:cNvPr id="5" name="Image 4" descr="Une image contenant texte, capture d’écran, Police, reçu&#10;&#10;Description générée automatiquement">
            <a:extLst>
              <a:ext uri="{FF2B5EF4-FFF2-40B4-BE49-F238E27FC236}">
                <a16:creationId xmlns:a16="http://schemas.microsoft.com/office/drawing/2014/main" id="{B5C6DC93-3EAA-B81E-870A-A0C0459218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099" y="2945924"/>
            <a:ext cx="10674701" cy="266239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C2620BD-32C8-F679-E552-B1277041B694}"/>
              </a:ext>
            </a:extLst>
          </p:cNvPr>
          <p:cNvSpPr txBox="1"/>
          <p:nvPr/>
        </p:nvSpPr>
        <p:spPr>
          <a:xfrm>
            <a:off x="3413760" y="6176963"/>
            <a:ext cx="46837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Nombre total de paramètres :  1 199  882 !</a:t>
            </a:r>
          </a:p>
        </p:txBody>
      </p:sp>
    </p:spTree>
    <p:extLst>
      <p:ext uri="{BB962C8B-B14F-4D97-AF65-F5344CB8AC3E}">
        <p14:creationId xmlns:p14="http://schemas.microsoft.com/office/powerpoint/2010/main" val="8415823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9B8E36-90D5-1ABD-BAB0-34B3FAD1C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Réseaux de neurones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63CB84-0B58-7B81-3989-26F8436AB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Interfaces :</a:t>
            </a:r>
          </a:p>
          <a:p>
            <a:pPr lvl="1"/>
            <a:r>
              <a:rPr lang="fr-FR" dirty="0"/>
              <a:t>Entrées : 784 vecteurs de 8 bits</a:t>
            </a:r>
          </a:p>
          <a:p>
            <a:pPr lvl="1"/>
            <a:r>
              <a:rPr lang="fr-FR" dirty="0"/>
              <a:t>Sorties : 10 bits</a:t>
            </a:r>
          </a:p>
          <a:p>
            <a:pPr lvl="1"/>
            <a:endParaRPr lang="fr-FR" dirty="0"/>
          </a:p>
          <a:p>
            <a:r>
              <a:rPr lang="fr-FR" dirty="0"/>
              <a:t>Mémoires :</a:t>
            </a:r>
          </a:p>
          <a:p>
            <a:pPr lvl="1"/>
            <a:r>
              <a:rPr lang="fr-FR" dirty="0"/>
              <a:t>Paramètres : 1,2 M x 32 bits -&gt; 4,8 Mo</a:t>
            </a:r>
          </a:p>
          <a:p>
            <a:pPr lvl="1"/>
            <a:r>
              <a:rPr lang="fr-FR" b="1" dirty="0"/>
              <a:t>Sauvegarde de résultats intermédiaires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059325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9B8E36-90D5-1ABD-BAB0-34B3FAD1C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Réseaux de neurones sur cible matérielle contrainte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63CB84-0B58-7B81-3989-26F8436AB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FR" b="1" dirty="0"/>
              <a:t>Défi :</a:t>
            </a:r>
            <a:r>
              <a:rPr lang="fr-FR" dirty="0"/>
              <a:t> intégrer des réseaux de neurones sur des cibles matérielles contraintes </a:t>
            </a:r>
          </a:p>
          <a:p>
            <a:pPr lvl="1"/>
            <a:endParaRPr lang="fr-FR" dirty="0"/>
          </a:p>
          <a:p>
            <a:pPr lvl="1"/>
            <a:r>
              <a:rPr lang="fr-FR" b="1" dirty="0"/>
              <a:t>Leviers :</a:t>
            </a:r>
          </a:p>
          <a:p>
            <a:pPr lvl="2"/>
            <a:r>
              <a:rPr lang="fr-FR" dirty="0"/>
              <a:t>Optimisation d’architecture</a:t>
            </a:r>
          </a:p>
          <a:p>
            <a:pPr lvl="2"/>
            <a:r>
              <a:rPr lang="fr-FR" dirty="0"/>
              <a:t>Pré-traitement des données d’entrées</a:t>
            </a:r>
          </a:p>
          <a:p>
            <a:pPr lvl="2"/>
            <a:r>
              <a:rPr lang="fr-FR" dirty="0"/>
              <a:t>Diminution de la quantification</a:t>
            </a:r>
          </a:p>
          <a:p>
            <a:pPr lvl="2"/>
            <a:r>
              <a:rPr lang="fr-FR" dirty="0"/>
              <a:t>Elagage (ou </a:t>
            </a:r>
            <a:r>
              <a:rPr lang="fr-FR" i="1" dirty="0" err="1"/>
              <a:t>pruning</a:t>
            </a:r>
            <a:r>
              <a:rPr lang="fr-FR" dirty="0"/>
              <a:t>)</a:t>
            </a:r>
          </a:p>
          <a:p>
            <a:pPr lvl="2"/>
            <a:r>
              <a:rPr lang="fr-FR" dirty="0"/>
              <a:t>Clustering</a:t>
            </a:r>
          </a:p>
          <a:p>
            <a:pPr lvl="2"/>
            <a:endParaRPr lang="fr-FR" dirty="0"/>
          </a:p>
          <a:p>
            <a:pPr lvl="2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38364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9B8E36-90D5-1ABD-BAB0-34B3FAD1C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Réseaux de neurones sur cible matérielle contrainte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63CB84-0B58-7B81-3989-26F8436AB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FR" b="1" dirty="0"/>
              <a:t>Optimisation d’architecture</a:t>
            </a:r>
            <a:endParaRPr lang="fr-FR" dirty="0"/>
          </a:p>
          <a:p>
            <a:pPr lvl="2"/>
            <a:r>
              <a:rPr lang="fr-FR" dirty="0"/>
              <a:t>Lors la création du NN, prendre en considération la future intégration et limiter la taille du réseau, éventuellement en faisant un compromis sur le temps de réponse et/ou la précision.</a:t>
            </a:r>
          </a:p>
          <a:p>
            <a:pPr lvl="2"/>
            <a:r>
              <a:rPr lang="fr-FR" dirty="0"/>
              <a:t>Limites possibles :</a:t>
            </a:r>
          </a:p>
          <a:p>
            <a:pPr lvl="3"/>
            <a:r>
              <a:rPr lang="fr-FR" dirty="0"/>
              <a:t>Nombre de couches</a:t>
            </a:r>
          </a:p>
          <a:p>
            <a:pPr lvl="3"/>
            <a:r>
              <a:rPr lang="fr-FR" dirty="0"/>
              <a:t>Nombre de neurones par couches</a:t>
            </a:r>
          </a:p>
          <a:p>
            <a:pPr lvl="3"/>
            <a:r>
              <a:rPr lang="fr-FR" dirty="0"/>
              <a:t>Nombre de filtres dans un CNN</a:t>
            </a:r>
          </a:p>
          <a:p>
            <a:pPr lvl="3"/>
            <a:r>
              <a:rPr lang="fr-FR" dirty="0"/>
              <a:t>…</a:t>
            </a:r>
          </a:p>
          <a:p>
            <a:pPr lvl="2"/>
            <a:endParaRPr lang="fr-FR" dirty="0"/>
          </a:p>
          <a:p>
            <a:pPr lvl="2"/>
            <a:endParaRPr lang="fr-FR" dirty="0"/>
          </a:p>
        </p:txBody>
      </p:sp>
      <p:pic>
        <p:nvPicPr>
          <p:cNvPr id="7" name="Image 6" descr="Une image contenant motif, capture d’écran, art, flocon de neige&#10;&#10;Description générée automatiquement">
            <a:extLst>
              <a:ext uri="{FF2B5EF4-FFF2-40B4-BE49-F238E27FC236}">
                <a16:creationId xmlns:a16="http://schemas.microsoft.com/office/drawing/2014/main" id="{A66E2AEB-3A5E-FCD6-4498-5E8F84FBA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03404">
            <a:off x="4101483" y="3584043"/>
            <a:ext cx="8916139" cy="278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66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9B8E36-90D5-1ABD-BAB0-34B3FAD1C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Réseaux de neurones sur cible matérielle contrainte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63CB84-0B58-7B81-3989-26F8436AB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FR" b="1" dirty="0"/>
              <a:t>Pré-traitement des données d’entrées</a:t>
            </a:r>
          </a:p>
          <a:p>
            <a:pPr lvl="2"/>
            <a:r>
              <a:rPr lang="fr-FR" dirty="0"/>
              <a:t>Traitement analytique pour renforcer certaines propriétés et permettre de concevoir un réseau de neurones plus compacts</a:t>
            </a:r>
          </a:p>
          <a:p>
            <a:pPr lvl="2"/>
            <a:r>
              <a:rPr lang="fr-FR" dirty="0"/>
              <a:t>Diminution de la taille des données d’entrées par sous-échantillonnage (</a:t>
            </a:r>
            <a:r>
              <a:rPr lang="fr-FR" dirty="0" err="1"/>
              <a:t>downsampling</a:t>
            </a:r>
            <a:r>
              <a:rPr lang="fr-FR" dirty="0"/>
              <a:t>) ou re-quantification</a:t>
            </a:r>
          </a:p>
          <a:p>
            <a:pPr lvl="2"/>
            <a:r>
              <a:rPr lang="fr-FR" dirty="0"/>
              <a:t>Changement de domaine (temps, fréquence, ondelette…)</a:t>
            </a:r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marL="914400" lvl="2" indent="0">
              <a:buNone/>
            </a:pPr>
            <a:r>
              <a:rPr lang="fr-FR" dirty="0"/>
              <a:t>Le prétraitement des données doit être pris en compte dans la complexité globale du système.</a:t>
            </a:r>
          </a:p>
          <a:p>
            <a:pPr marL="914400" lvl="2" indent="0">
              <a:buNone/>
            </a:pPr>
            <a:r>
              <a:rPr lang="fr-FR" dirty="0"/>
              <a:t>Ex de prétraitement non nécessairement efficace : transformation temps-&gt; fréquence via FFT, coûteuse en ressources et temps de calcul.</a:t>
            </a: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3E70AB3D-093E-F884-1648-8C4977990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65181" y="4779391"/>
            <a:ext cx="611071" cy="53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2938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9B8E36-90D5-1ABD-BAB0-34B3FAD1C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Réseaux de neurones sur cible matérielle contrainte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63CB84-0B58-7B81-3989-26F8436AB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FR" b="1" dirty="0"/>
              <a:t>Diminution de la quantification</a:t>
            </a:r>
          </a:p>
          <a:p>
            <a:pPr lvl="2"/>
            <a:r>
              <a:rPr lang="fr-FR" dirty="0"/>
              <a:t>Lors d’un entraînement classique sur TF ou </a:t>
            </a:r>
            <a:r>
              <a:rPr lang="fr-FR" dirty="0" err="1"/>
              <a:t>PyTorch</a:t>
            </a:r>
            <a:r>
              <a:rPr lang="fr-FR" dirty="0"/>
              <a:t>, les données sont codées en 32 ou 64 bits (données d’entrée, de sorties, internes, poids et biais)</a:t>
            </a:r>
          </a:p>
          <a:p>
            <a:pPr lvl="2"/>
            <a:r>
              <a:rPr lang="fr-FR" dirty="0"/>
              <a:t>Diminution de la quantification = 32/64-&gt; 16, 8, 4, 2, voire 1 bit(s) de données !</a:t>
            </a:r>
          </a:p>
          <a:p>
            <a:pPr lvl="2"/>
            <a:r>
              <a:rPr lang="fr-FR" dirty="0"/>
              <a:t>Perte de précision mais peut être suffisant pour de la classification.</a:t>
            </a:r>
          </a:p>
          <a:p>
            <a:pPr lvl="2"/>
            <a:endParaRPr lang="fr-FR" dirty="0"/>
          </a:p>
          <a:p>
            <a:pPr lvl="2"/>
            <a:endParaRPr lang="fr-FR" dirty="0"/>
          </a:p>
        </p:txBody>
      </p:sp>
      <p:pic>
        <p:nvPicPr>
          <p:cNvPr id="5" name="Image 4" descr="Une image contenant clipart, symbole, Graphique&#10;&#10;Description générée automatiquement">
            <a:extLst>
              <a:ext uri="{FF2B5EF4-FFF2-40B4-BE49-F238E27FC236}">
                <a16:creationId xmlns:a16="http://schemas.microsoft.com/office/drawing/2014/main" id="{A9C5D30C-DC07-DCE9-A1F3-B5B9D4C2B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212" y="3617350"/>
            <a:ext cx="3986073" cy="298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4499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9B8E36-90D5-1ABD-BAB0-34B3FAD1C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Réseaux de neurones sur cible matérielle contrainte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63CB84-0B58-7B81-3989-26F8436AB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FR" b="1" dirty="0"/>
              <a:t>Elagage (ou </a:t>
            </a:r>
            <a:r>
              <a:rPr lang="fr-FR" b="1" i="1" dirty="0" err="1"/>
              <a:t>pruning</a:t>
            </a:r>
            <a:r>
              <a:rPr lang="fr-FR" b="1" dirty="0"/>
              <a:t>)</a:t>
            </a:r>
          </a:p>
          <a:p>
            <a:pPr marL="914400" lvl="2" indent="0">
              <a:buNone/>
            </a:pPr>
            <a:endParaRPr lang="fr-FR" dirty="0"/>
          </a:p>
          <a:p>
            <a:pPr lvl="2"/>
            <a:endParaRPr lang="fr-FR" dirty="0"/>
          </a:p>
        </p:txBody>
      </p:sp>
      <p:pic>
        <p:nvPicPr>
          <p:cNvPr id="6" name="Image 5" descr="Une image contenant diagramme, cercle, ligne&#10;&#10;Description générée automatiquement">
            <a:extLst>
              <a:ext uri="{FF2B5EF4-FFF2-40B4-BE49-F238E27FC236}">
                <a16:creationId xmlns:a16="http://schemas.microsoft.com/office/drawing/2014/main" id="{6DBA7FDD-091B-8AF3-FEB6-E56285C4C9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790" y="2194897"/>
            <a:ext cx="6340419" cy="361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5802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9B8E36-90D5-1ABD-BAB0-34B3FAD1C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Réseaux de neurones sur cible matérielle contrainte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63CB84-0B58-7B81-3989-26F8436AB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FR" b="1" dirty="0"/>
              <a:t>Clustering</a:t>
            </a:r>
          </a:p>
          <a:p>
            <a:pPr lvl="2"/>
            <a:r>
              <a:rPr lang="fr-FR" dirty="0"/>
              <a:t>Identifier les poids et biais ayant des valeurs proches (dans une tolérance à définir en hyperparamètres)</a:t>
            </a:r>
          </a:p>
          <a:p>
            <a:pPr lvl="2"/>
            <a:r>
              <a:rPr lang="fr-FR" dirty="0"/>
              <a:t>En faire la moyenne</a:t>
            </a:r>
          </a:p>
          <a:p>
            <a:pPr lvl="2"/>
            <a:r>
              <a:rPr lang="fr-FR" dirty="0"/>
              <a:t>N’utiliser qu’une adresse mémoire pour les poids et biais identifiés</a:t>
            </a:r>
          </a:p>
          <a:p>
            <a:pPr lvl="2"/>
            <a:r>
              <a:rPr lang="fr-FR" dirty="0"/>
              <a:t>Permet d’économiser de la mémoire</a:t>
            </a:r>
          </a:p>
          <a:p>
            <a:pPr marL="914400" lvl="2" indent="0">
              <a:buNone/>
            </a:pPr>
            <a:endParaRPr lang="fr-FR" dirty="0"/>
          </a:p>
          <a:p>
            <a:pPr lvl="2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272965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E9662D-B4B2-28CC-0215-BC3D650D6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Réseaux de neurones sur cible matérielle contrainte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8FC96C-7AF8-EF4D-3BC9-A39CB4829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re-quantification, l’élagage et le clustering peuvent être fait :</a:t>
            </a:r>
          </a:p>
          <a:p>
            <a:pPr lvl="1"/>
            <a:r>
              <a:rPr lang="fr-FR" dirty="0"/>
              <a:t>A la fin de l’entraînement. Un second entraînement, plus court peut être exécuté pour ajuster les valeurs de poids et biais au mieux.</a:t>
            </a:r>
          </a:p>
          <a:p>
            <a:pPr lvl="1"/>
            <a:r>
              <a:rPr lang="fr-FR" dirty="0"/>
              <a:t>Pendant l’entraînement :</a:t>
            </a:r>
          </a:p>
          <a:p>
            <a:pPr lvl="2"/>
            <a:r>
              <a:rPr lang="fr-FR" dirty="0"/>
              <a:t>L’algorithme détecte les poids et biais tendant vers 0, ou vers la même valeur et les élague ou les regroupe. A chaque itération, cette vérification est exécutée et l’entraînement est donc plus long. En revanche, il n’y a pas de 2</a:t>
            </a:r>
            <a:r>
              <a:rPr lang="fr-FR" baseline="30000" dirty="0"/>
              <a:t>nde</a:t>
            </a:r>
            <a:r>
              <a:rPr lang="fr-FR" dirty="0"/>
              <a:t> phase d’entraînement à </a:t>
            </a:r>
            <a:r>
              <a:rPr lang="fr-FR" dirty="0" err="1"/>
              <a:t>exéctuer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4674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9B8E36-90D5-1ABD-BAB0-34B3FAD1C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Réseaux de neurones binarisés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63CB84-0B58-7B81-3989-26F8436AB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065"/>
            <a:ext cx="10515600" cy="4351338"/>
          </a:xfrm>
        </p:spPr>
        <p:txBody>
          <a:bodyPr/>
          <a:lstStyle/>
          <a:p>
            <a:pPr lvl="1"/>
            <a:r>
              <a:rPr lang="fr-FR" dirty="0"/>
              <a:t>Réseaux de neurones binarisés ou binaires (BNN) :</a:t>
            </a:r>
          </a:p>
          <a:p>
            <a:pPr lvl="2"/>
            <a:r>
              <a:rPr lang="en-US" sz="2400" dirty="0" err="1"/>
              <a:t>Similaire</a:t>
            </a:r>
            <a:r>
              <a:rPr lang="en-US" sz="2400" dirty="0"/>
              <a:t> aux MLP </a:t>
            </a:r>
            <a:r>
              <a:rPr lang="en-US" sz="2400" dirty="0" err="1"/>
              <a:t>classiques</a:t>
            </a:r>
            <a:endParaRPr lang="en-US" sz="2400" dirty="0"/>
          </a:p>
          <a:p>
            <a:pPr lvl="2"/>
            <a:r>
              <a:rPr lang="en-US" sz="2400" dirty="0"/>
              <a:t>MAIS </a:t>
            </a:r>
            <a:r>
              <a:rPr lang="en-US" sz="2400" dirty="0" err="1"/>
              <a:t>poids</a:t>
            </a:r>
            <a:r>
              <a:rPr lang="en-US" sz="2400" dirty="0"/>
              <a:t> et activation constraints à prendre 2 </a:t>
            </a:r>
            <a:r>
              <a:rPr lang="en-US" sz="2400" dirty="0" err="1"/>
              <a:t>valeurs</a:t>
            </a:r>
            <a:r>
              <a:rPr lang="en-US" sz="2400" dirty="0"/>
              <a:t> : 1 et -1</a:t>
            </a:r>
          </a:p>
          <a:p>
            <a:pPr lvl="2"/>
            <a:r>
              <a:rPr lang="en-US" sz="2400" dirty="0"/>
              <a:t>Une </a:t>
            </a:r>
            <a:r>
              <a:rPr lang="en-US" sz="2400" dirty="0" err="1"/>
              <a:t>seule</a:t>
            </a:r>
            <a:r>
              <a:rPr lang="en-US" sz="2400" dirty="0"/>
              <a:t> function </a:t>
            </a:r>
            <a:r>
              <a:rPr lang="en-US" sz="2400" dirty="0" err="1"/>
              <a:t>d’activation</a:t>
            </a:r>
            <a:r>
              <a:rPr lang="en-US" sz="2400" dirty="0"/>
              <a:t> : la function </a:t>
            </a:r>
            <a:r>
              <a:rPr lang="en-US" sz="2400" dirty="0" err="1"/>
              <a:t>signe</a:t>
            </a:r>
            <a:br>
              <a:rPr lang="en-US" sz="2400" dirty="0"/>
            </a:br>
            <a:r>
              <a:rPr lang="en-US" sz="2400" dirty="0"/>
              <a:t>-&gt; </a:t>
            </a:r>
            <a:r>
              <a:rPr lang="en-US" sz="2400" b="1" dirty="0" err="1"/>
              <a:t>Intégration</a:t>
            </a:r>
            <a:r>
              <a:rPr lang="en-US" sz="2400" b="1" dirty="0"/>
              <a:t> très </a:t>
            </a:r>
            <a:r>
              <a:rPr lang="en-US" sz="2400" b="1" dirty="0" err="1"/>
              <a:t>efficace</a:t>
            </a:r>
            <a:r>
              <a:rPr lang="en-US" sz="2400" dirty="0"/>
              <a:t>.</a:t>
            </a:r>
          </a:p>
          <a:p>
            <a:pPr lvl="1"/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</p:txBody>
      </p:sp>
      <p:pic>
        <p:nvPicPr>
          <p:cNvPr id="5" name="Image 4" descr="Une image contenant texte, diagramme, cercle, ligne&#10;&#10;Description générée automatiquement">
            <a:extLst>
              <a:ext uri="{FF2B5EF4-FFF2-40B4-BE49-F238E27FC236}">
                <a16:creationId xmlns:a16="http://schemas.microsoft.com/office/drawing/2014/main" id="{92E3DE06-C878-4D6F-5444-230F9BBD84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979" y="3543151"/>
            <a:ext cx="5464061" cy="301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0905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890E36-ABD5-918C-0C02-2AB724637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des cibles embarquant un OS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046F89-4407-84E4-3AC6-423F7B974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945" y="1505115"/>
            <a:ext cx="10515600" cy="4351338"/>
          </a:xfrm>
        </p:spPr>
        <p:txBody>
          <a:bodyPr>
            <a:normAutofit/>
          </a:bodyPr>
          <a:lstStyle/>
          <a:p>
            <a:r>
              <a:rPr lang="fr-FR" sz="2400" dirty="0"/>
              <a:t>Certains composants sont en mesure d’embarquer un OS et un </a:t>
            </a:r>
            <a:r>
              <a:rPr lang="fr-FR" sz="2400" dirty="0" err="1"/>
              <a:t>interpéteur</a:t>
            </a:r>
            <a:r>
              <a:rPr lang="fr-FR" sz="2400" dirty="0"/>
              <a:t> Java, Swift, C++, Objective-C et/ou Python.</a:t>
            </a:r>
          </a:p>
          <a:p>
            <a:r>
              <a:rPr lang="fr-FR" sz="2400" dirty="0"/>
              <a:t>Des librairies spécifiques, optimisées, existent pour exécuter une inférence sur ces systèmes.</a:t>
            </a:r>
          </a:p>
          <a:p>
            <a:r>
              <a:rPr lang="fr-FR" sz="2400" dirty="0"/>
              <a:t>Exemple le plus courant : </a:t>
            </a:r>
            <a:r>
              <a:rPr lang="fr-FR" sz="2400" dirty="0" err="1"/>
              <a:t>TensorFlow</a:t>
            </a:r>
            <a:r>
              <a:rPr lang="fr-FR" sz="2400" dirty="0"/>
              <a:t> Lite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B09388C-E70A-0C7A-BFFA-74AB27199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535" y="3681857"/>
            <a:ext cx="7883236" cy="31568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578250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3902ECAC-A9AD-40F3-8D3E-093E273D2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00" y="1601259"/>
            <a:ext cx="10515600" cy="1325563"/>
          </a:xfrm>
        </p:spPr>
        <p:txBody>
          <a:bodyPr/>
          <a:lstStyle/>
          <a:p>
            <a:r>
              <a:rPr lang="fr-FR" b="1" dirty="0"/>
              <a:t>Conclusion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30053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046F89-4407-84E4-3AC6-423F7B974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748"/>
            <a:ext cx="10515600" cy="4351338"/>
          </a:xfrm>
        </p:spPr>
        <p:txBody>
          <a:bodyPr>
            <a:normAutofit/>
          </a:bodyPr>
          <a:lstStyle/>
          <a:p>
            <a:r>
              <a:rPr lang="fr-FR" sz="2400" dirty="0"/>
              <a:t>Intégration de solutions IA sur cible contrainte = expertise de plus en plus recherchée</a:t>
            </a:r>
          </a:p>
          <a:p>
            <a:pPr lvl="1"/>
            <a:r>
              <a:rPr lang="fr-FR" sz="2000" dirty="0"/>
              <a:t>Concepteur de modèles compacts (IATI-SIA)</a:t>
            </a:r>
          </a:p>
          <a:p>
            <a:pPr lvl="1"/>
            <a:r>
              <a:rPr lang="fr-FR" sz="2000" dirty="0"/>
              <a:t> Intégrateurs (IATI-TSE)</a:t>
            </a:r>
          </a:p>
          <a:p>
            <a:pPr lvl="1"/>
            <a:endParaRPr lang="fr-FR" sz="2000" dirty="0"/>
          </a:p>
          <a:p>
            <a:r>
              <a:rPr lang="fr-FR" sz="2400" dirty="0"/>
              <a:t>Marché extrêmement ouvert et dynamique</a:t>
            </a:r>
          </a:p>
          <a:p>
            <a:endParaRPr lang="fr-FR" sz="2400" dirty="0"/>
          </a:p>
          <a:p>
            <a:r>
              <a:rPr lang="fr-FR" sz="2400" dirty="0"/>
              <a:t>Multiplicité des solutions et des outils, en constante évolution</a:t>
            </a:r>
          </a:p>
        </p:txBody>
      </p:sp>
    </p:spTree>
    <p:extLst>
      <p:ext uri="{BB962C8B-B14F-4D97-AF65-F5344CB8AC3E}">
        <p14:creationId xmlns:p14="http://schemas.microsoft.com/office/powerpoint/2010/main" val="2803344457"/>
      </p:ext>
    </p:extLst>
  </p:cSld>
  <p:clrMapOvr>
    <a:masterClrMapping/>
  </p:clrMapOvr>
</p:sld>
</file>

<file path=ppt/theme/theme1.xml><?xml version="1.0" encoding="utf-8"?>
<a:theme xmlns:a="http://schemas.openxmlformats.org/drawingml/2006/main" name="1_Conception personnalisée">
  <a:themeElements>
    <a:clrScheme name="Toulouse INP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A2E46"/>
      </a:accent1>
      <a:accent2>
        <a:srgbClr val="D50057"/>
      </a:accent2>
      <a:accent3>
        <a:srgbClr val="1947BA"/>
      </a:accent3>
      <a:accent4>
        <a:srgbClr val="009136"/>
      </a:accent4>
      <a:accent5>
        <a:srgbClr val="F7931E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12474</TotalTime>
  <Words>3446</Words>
  <Application>Microsoft Office PowerPoint</Application>
  <PresentationFormat>Grand écran</PresentationFormat>
  <Paragraphs>445</Paragraphs>
  <Slides>56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56</vt:i4>
      </vt:variant>
    </vt:vector>
  </HeadingPairs>
  <TitlesOfParts>
    <vt:vector size="62" baseType="lpstr">
      <vt:lpstr>Arial</vt:lpstr>
      <vt:lpstr>Calibri</vt:lpstr>
      <vt:lpstr>Calibri Light</vt:lpstr>
      <vt:lpstr>Cambria Math</vt:lpstr>
      <vt:lpstr>Wingdings</vt:lpstr>
      <vt:lpstr>1_Conception personnalisée</vt:lpstr>
      <vt:lpstr>Edge computing</vt:lpstr>
      <vt:lpstr>Présentation PowerPoint</vt:lpstr>
      <vt:lpstr>Avant-propos</vt:lpstr>
      <vt:lpstr>Sommaire</vt:lpstr>
      <vt:lpstr>Introduction au Edge Computing</vt:lpstr>
      <vt:lpstr>Définition</vt:lpstr>
      <vt:lpstr>Définition</vt:lpstr>
      <vt:lpstr>Le cas des systèmes embarqués</vt:lpstr>
      <vt:lpstr>Nécessité du Edge Computing</vt:lpstr>
      <vt:lpstr>Diminution de la bande passante</vt:lpstr>
      <vt:lpstr>Diminution de la latence</vt:lpstr>
      <vt:lpstr>Autonomie</vt:lpstr>
      <vt:lpstr>Sécurisation des données</vt:lpstr>
      <vt:lpstr>Cas d'Utilisation du Edge Computing</vt:lpstr>
      <vt:lpstr>Domaine d’applications</vt:lpstr>
      <vt:lpstr>Défense</vt:lpstr>
      <vt:lpstr>Energie et transport (application industrielle)</vt:lpstr>
      <vt:lpstr>Véhicule autonome</vt:lpstr>
      <vt:lpstr>Véhicule autonome</vt:lpstr>
      <vt:lpstr>Véhicule autonome</vt:lpstr>
      <vt:lpstr>Spatial et télécommunication</vt:lpstr>
      <vt:lpstr>Santé</vt:lpstr>
      <vt:lpstr>IoT</vt:lpstr>
      <vt:lpstr>IoT</vt:lpstr>
      <vt:lpstr>Instrumentation / Environnement</vt:lpstr>
      <vt:lpstr>Solutions techniques</vt:lpstr>
      <vt:lpstr>Analyse du problème</vt:lpstr>
      <vt:lpstr>K-Nearest Neighbors</vt:lpstr>
      <vt:lpstr>K-Nearest Neighbors</vt:lpstr>
      <vt:lpstr>Régression</vt:lpstr>
      <vt:lpstr>Régression</vt:lpstr>
      <vt:lpstr>Régression</vt:lpstr>
      <vt:lpstr>SVM (Support Vector Machines)</vt:lpstr>
      <vt:lpstr>SVM (Support Vector Machines)</vt:lpstr>
      <vt:lpstr>SVM (Support Vector Machines)</vt:lpstr>
      <vt:lpstr>Arbre de décision</vt:lpstr>
      <vt:lpstr>Arbre de décision</vt:lpstr>
      <vt:lpstr>Arbre de décision</vt:lpstr>
      <vt:lpstr>Random Forest</vt:lpstr>
      <vt:lpstr>Random Forest</vt:lpstr>
      <vt:lpstr>Random Forest</vt:lpstr>
      <vt:lpstr>Réseaux de neurones</vt:lpstr>
      <vt:lpstr>Réseaux de neurones</vt:lpstr>
      <vt:lpstr>Réseaux de neurones</vt:lpstr>
      <vt:lpstr>Réseaux de neurones</vt:lpstr>
      <vt:lpstr>Réseaux de neurones sur cible matérielle contrainte</vt:lpstr>
      <vt:lpstr>Réseaux de neurones sur cible matérielle contrainte</vt:lpstr>
      <vt:lpstr>Réseaux de neurones sur cible matérielle contrainte</vt:lpstr>
      <vt:lpstr>Réseaux de neurones sur cible matérielle contrainte</vt:lpstr>
      <vt:lpstr>Réseaux de neurones sur cible matérielle contrainte</vt:lpstr>
      <vt:lpstr>Réseaux de neurones sur cible matérielle contrainte</vt:lpstr>
      <vt:lpstr>Réseaux de neurones sur cible matérielle contrainte</vt:lpstr>
      <vt:lpstr>Réseaux de neurones binarisés</vt:lpstr>
      <vt:lpstr>Cas des cibles embarquant un OS</vt:lpstr>
      <vt:lpstr>Conclusion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Audrey Vouilloux</dc:creator>
  <cp:lastModifiedBy>Blaise MULLIEZ</cp:lastModifiedBy>
  <cp:revision>8</cp:revision>
  <dcterms:created xsi:type="dcterms:W3CDTF">2022-04-14T12:35:23Z</dcterms:created>
  <dcterms:modified xsi:type="dcterms:W3CDTF">2024-10-21T13:35:45Z</dcterms:modified>
</cp:coreProperties>
</file>